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50"/>
  </p:notesMasterIdLst>
  <p:sldIdLst>
    <p:sldId id="471" r:id="rId5"/>
    <p:sldId id="374" r:id="rId6"/>
    <p:sldId id="375" r:id="rId7"/>
    <p:sldId id="474" r:id="rId8"/>
    <p:sldId id="392" r:id="rId9"/>
    <p:sldId id="475" r:id="rId10"/>
    <p:sldId id="337" r:id="rId11"/>
    <p:sldId id="259" r:id="rId12"/>
    <p:sldId id="507" r:id="rId13"/>
    <p:sldId id="508" r:id="rId14"/>
    <p:sldId id="509" r:id="rId15"/>
    <p:sldId id="424" r:id="rId16"/>
    <p:sldId id="506" r:id="rId17"/>
    <p:sldId id="511" r:id="rId18"/>
    <p:sldId id="512" r:id="rId19"/>
    <p:sldId id="497" r:id="rId20"/>
    <p:sldId id="513" r:id="rId21"/>
    <p:sldId id="515" r:id="rId22"/>
    <p:sldId id="440" r:id="rId23"/>
    <p:sldId id="388" r:id="rId24"/>
    <p:sldId id="477" r:id="rId25"/>
    <p:sldId id="516" r:id="rId26"/>
    <p:sldId id="517" r:id="rId27"/>
    <p:sldId id="518" r:id="rId28"/>
    <p:sldId id="519" r:id="rId29"/>
    <p:sldId id="520" r:id="rId30"/>
    <p:sldId id="521" r:id="rId31"/>
    <p:sldId id="522" r:id="rId32"/>
    <p:sldId id="523" r:id="rId33"/>
    <p:sldId id="524" r:id="rId34"/>
    <p:sldId id="528" r:id="rId35"/>
    <p:sldId id="525" r:id="rId36"/>
    <p:sldId id="526" r:id="rId37"/>
    <p:sldId id="527" r:id="rId38"/>
    <p:sldId id="461" r:id="rId39"/>
    <p:sldId id="529" r:id="rId40"/>
    <p:sldId id="530" r:id="rId41"/>
    <p:sldId id="531" r:id="rId42"/>
    <p:sldId id="533" r:id="rId43"/>
    <p:sldId id="532" r:id="rId44"/>
    <p:sldId id="534" r:id="rId45"/>
    <p:sldId id="422" r:id="rId46"/>
    <p:sldId id="501" r:id="rId47"/>
    <p:sldId id="436" r:id="rId48"/>
    <p:sldId id="400" r:id="rId49"/>
  </p:sldIdLst>
  <p:sldSz cx="12192000" cy="6858000"/>
  <p:notesSz cx="7104063" cy="10234613"/>
  <p:custDataLst>
    <p:tags r:id="rId5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ACB743C-D873-4233-9D28-B8C4BDC855B1}">
          <p14:sldIdLst>
            <p14:sldId id="471"/>
            <p14:sldId id="374"/>
            <p14:sldId id="375"/>
            <p14:sldId id="474"/>
            <p14:sldId id="392"/>
            <p14:sldId id="475"/>
            <p14:sldId id="337"/>
            <p14:sldId id="259"/>
            <p14:sldId id="507"/>
            <p14:sldId id="508"/>
            <p14:sldId id="509"/>
            <p14:sldId id="424"/>
            <p14:sldId id="506"/>
            <p14:sldId id="511"/>
            <p14:sldId id="512"/>
            <p14:sldId id="497"/>
            <p14:sldId id="513"/>
            <p14:sldId id="515"/>
            <p14:sldId id="440"/>
            <p14:sldId id="388"/>
            <p14:sldId id="477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8"/>
            <p14:sldId id="525"/>
            <p14:sldId id="526"/>
            <p14:sldId id="527"/>
            <p14:sldId id="461"/>
            <p14:sldId id="529"/>
            <p14:sldId id="530"/>
            <p14:sldId id="531"/>
            <p14:sldId id="533"/>
            <p14:sldId id="532"/>
            <p14:sldId id="534"/>
            <p14:sldId id="422"/>
            <p14:sldId id="501"/>
            <p14:sldId id="436"/>
            <p14:sldId id="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238D3"/>
    <a:srgbClr val="00FF00"/>
    <a:srgbClr val="84FF00"/>
    <a:srgbClr val="00E340"/>
    <a:srgbClr val="FFD966"/>
    <a:srgbClr val="00FF48"/>
    <a:srgbClr val="FF00FF"/>
    <a:srgbClr val="DF19E6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C0C77E-360F-47A4-90E2-F5CFCA2E8E94}" v="593" dt="2026-03-23T09:31:44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0"/>
    <p:restoredTop sz="96247" autoAdjust="0"/>
  </p:normalViewPr>
  <p:slideViewPr>
    <p:cSldViewPr snapToGrid="0">
      <p:cViewPr varScale="1">
        <p:scale>
          <a:sx n="98" d="100"/>
          <a:sy n="98" d="100"/>
        </p:scale>
        <p:origin x="102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tags" Target="tags/tag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5/10/relationships/revisionInfo" Target="revisionInfo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Arnold" userId="2326f62b-5e6b-4cfd-be43-f0c73addf45c" providerId="ADAL" clId="{08E2EC17-460D-4839-9702-9C427FA97854}"/>
    <pc:docChg chg="undo custSel addSld delSld modSld sldOrd modSection">
      <pc:chgData name="Chris Arnold" userId="2326f62b-5e6b-4cfd-be43-f0c73addf45c" providerId="ADAL" clId="{08E2EC17-460D-4839-9702-9C427FA97854}" dt="2026-03-23T09:52:59.765" v="1698" actId="20577"/>
      <pc:docMkLst>
        <pc:docMk/>
      </pc:docMkLst>
      <pc:sldChg chg="add">
        <pc:chgData name="Chris Arnold" userId="2326f62b-5e6b-4cfd-be43-f0c73addf45c" providerId="ADAL" clId="{08E2EC17-460D-4839-9702-9C427FA97854}" dt="2026-03-23T06:55:45.501" v="174"/>
        <pc:sldMkLst>
          <pc:docMk/>
          <pc:sldMk cId="3329454664" sldId="337"/>
        </pc:sldMkLst>
      </pc:sldChg>
      <pc:sldChg chg="del">
        <pc:chgData name="Chris Arnold" userId="2326f62b-5e6b-4cfd-be43-f0c73addf45c" providerId="ADAL" clId="{08E2EC17-460D-4839-9702-9C427FA97854}" dt="2026-03-23T06:46:55.310" v="1" actId="47"/>
        <pc:sldMkLst>
          <pc:docMk/>
          <pc:sldMk cId="376194336" sldId="373"/>
        </pc:sldMkLst>
      </pc:sldChg>
      <pc:sldChg chg="modSp mod modAnim">
        <pc:chgData name="Chris Arnold" userId="2326f62b-5e6b-4cfd-be43-f0c73addf45c" providerId="ADAL" clId="{08E2EC17-460D-4839-9702-9C427FA97854}" dt="2026-03-23T06:54:53.432" v="173" actId="20577"/>
        <pc:sldMkLst>
          <pc:docMk/>
          <pc:sldMk cId="4053608831" sldId="374"/>
        </pc:sldMkLst>
        <pc:spChg chg="mod">
          <ac:chgData name="Chris Arnold" userId="2326f62b-5e6b-4cfd-be43-f0c73addf45c" providerId="ADAL" clId="{08E2EC17-460D-4839-9702-9C427FA97854}" dt="2026-03-23T06:54:53.432" v="173" actId="20577"/>
          <ac:spMkLst>
            <pc:docMk/>
            <pc:sldMk cId="4053608831" sldId="374"/>
            <ac:spMk id="3" creationId="{FFE11195-59DF-5F4E-8AB3-FBB2C3F3988D}"/>
          </ac:spMkLst>
        </pc:spChg>
      </pc:sldChg>
      <pc:sldChg chg="modSp modAnim">
        <pc:chgData name="Chris Arnold" userId="2326f62b-5e6b-4cfd-be43-f0c73addf45c" providerId="ADAL" clId="{08E2EC17-460D-4839-9702-9C427FA97854}" dt="2026-03-23T07:28:19.755" v="460" actId="20577"/>
        <pc:sldMkLst>
          <pc:docMk/>
          <pc:sldMk cId="3196573161" sldId="375"/>
        </pc:sldMkLst>
        <pc:spChg chg="mod">
          <ac:chgData name="Chris Arnold" userId="2326f62b-5e6b-4cfd-be43-f0c73addf45c" providerId="ADAL" clId="{08E2EC17-460D-4839-9702-9C427FA97854}" dt="2026-03-23T07:28:19.755" v="460" actId="20577"/>
          <ac:spMkLst>
            <pc:docMk/>
            <pc:sldMk cId="3196573161" sldId="375"/>
            <ac:spMk id="3" creationId="{FFE11195-59DF-5F4E-8AB3-FBB2C3F3988D}"/>
          </ac:spMkLst>
        </pc:spChg>
      </pc:sldChg>
      <pc:sldChg chg="del">
        <pc:chgData name="Chris Arnold" userId="2326f62b-5e6b-4cfd-be43-f0c73addf45c" providerId="ADAL" clId="{08E2EC17-460D-4839-9702-9C427FA97854}" dt="2026-03-23T06:55:52.789" v="175" actId="2696"/>
        <pc:sldMkLst>
          <pc:docMk/>
          <pc:sldMk cId="1180889377" sldId="383"/>
        </pc:sldMkLst>
      </pc:sldChg>
      <pc:sldChg chg="del">
        <pc:chgData name="Chris Arnold" userId="2326f62b-5e6b-4cfd-be43-f0c73addf45c" providerId="ADAL" clId="{08E2EC17-460D-4839-9702-9C427FA97854}" dt="2026-03-23T06:58:19.431" v="274" actId="47"/>
        <pc:sldMkLst>
          <pc:docMk/>
          <pc:sldMk cId="1943731954" sldId="453"/>
        </pc:sldMkLst>
      </pc:sldChg>
      <pc:sldChg chg="addSp delSp modSp add mod">
        <pc:chgData name="Chris Arnold" userId="2326f62b-5e6b-4cfd-be43-f0c73addf45c" providerId="ADAL" clId="{08E2EC17-460D-4839-9702-9C427FA97854}" dt="2026-03-23T07:37:20.251" v="479" actId="207"/>
        <pc:sldMkLst>
          <pc:docMk/>
          <pc:sldMk cId="364818010" sldId="461"/>
        </pc:sldMkLst>
        <pc:spChg chg="mod">
          <ac:chgData name="Chris Arnold" userId="2326f62b-5e6b-4cfd-be43-f0c73addf45c" providerId="ADAL" clId="{08E2EC17-460D-4839-9702-9C427FA97854}" dt="2026-03-23T07:37:07.485" v="478" actId="207"/>
          <ac:spMkLst>
            <pc:docMk/>
            <pc:sldMk cId="364818010" sldId="461"/>
            <ac:spMk id="2" creationId="{B220C2A7-CF6E-7A7E-181D-1F493AF6B877}"/>
          </ac:spMkLst>
        </pc:spChg>
        <pc:spChg chg="add">
          <ac:chgData name="Chris Arnold" userId="2326f62b-5e6b-4cfd-be43-f0c73addf45c" providerId="ADAL" clId="{08E2EC17-460D-4839-9702-9C427FA97854}" dt="2026-03-23T07:36:01.530" v="465"/>
          <ac:spMkLst>
            <pc:docMk/>
            <pc:sldMk cId="364818010" sldId="461"/>
            <ac:spMk id="5" creationId="{7F55C32D-8CA8-E0C4-FDBB-A47E5AA772E7}"/>
          </ac:spMkLst>
        </pc:spChg>
        <pc:spChg chg="mod">
          <ac:chgData name="Chris Arnold" userId="2326f62b-5e6b-4cfd-be43-f0c73addf45c" providerId="ADAL" clId="{08E2EC17-460D-4839-9702-9C427FA97854}" dt="2026-03-23T07:37:20.251" v="479" actId="207"/>
          <ac:spMkLst>
            <pc:docMk/>
            <pc:sldMk cId="364818010" sldId="461"/>
            <ac:spMk id="11" creationId="{735C052B-8930-50A5-DE48-1478D08A8303}"/>
          </ac:spMkLst>
        </pc:spChg>
        <pc:picChg chg="add mod ord">
          <ac:chgData name="Chris Arnold" userId="2326f62b-5e6b-4cfd-be43-f0c73addf45c" providerId="ADAL" clId="{08E2EC17-460D-4839-9702-9C427FA97854}" dt="2026-03-23T07:36:56.597" v="475" actId="167"/>
          <ac:picMkLst>
            <pc:docMk/>
            <pc:sldMk cId="364818010" sldId="461"/>
            <ac:picMk id="6" creationId="{CA1E18C5-8438-7397-2BC7-E0240B7FA6C3}"/>
          </ac:picMkLst>
        </pc:picChg>
        <pc:picChg chg="add mod ord">
          <ac:chgData name="Chris Arnold" userId="2326f62b-5e6b-4cfd-be43-f0c73addf45c" providerId="ADAL" clId="{08E2EC17-460D-4839-9702-9C427FA97854}" dt="2026-03-23T07:36:59.181" v="476" actId="167"/>
          <ac:picMkLst>
            <pc:docMk/>
            <pc:sldMk cId="364818010" sldId="461"/>
            <ac:picMk id="7" creationId="{02C82389-CA14-103D-B6FD-756479EAB61D}"/>
          </ac:picMkLst>
        </pc:picChg>
        <pc:picChg chg="add mod ord">
          <ac:chgData name="Chris Arnold" userId="2326f62b-5e6b-4cfd-be43-f0c73addf45c" providerId="ADAL" clId="{08E2EC17-460D-4839-9702-9C427FA97854}" dt="2026-03-23T07:37:01.614" v="477" actId="167"/>
          <ac:picMkLst>
            <pc:docMk/>
            <pc:sldMk cId="364818010" sldId="461"/>
            <ac:picMk id="8" creationId="{28392A33-E8CA-C0CC-BDE6-AF06994F9CC5}"/>
          </ac:picMkLst>
        </pc:picChg>
        <pc:picChg chg="del">
          <ac:chgData name="Chris Arnold" userId="2326f62b-5e6b-4cfd-be43-f0c73addf45c" providerId="ADAL" clId="{08E2EC17-460D-4839-9702-9C427FA97854}" dt="2026-03-23T07:35:32.159" v="462" actId="478"/>
          <ac:picMkLst>
            <pc:docMk/>
            <pc:sldMk cId="364818010" sldId="461"/>
            <ac:picMk id="10" creationId="{95B6FFFE-0BBE-C089-2C0E-14CFC755E941}"/>
          </ac:picMkLst>
        </pc:picChg>
      </pc:sldChg>
      <pc:sldChg chg="modSp add mod">
        <pc:chgData name="Chris Arnold" userId="2326f62b-5e6b-4cfd-be43-f0c73addf45c" providerId="ADAL" clId="{08E2EC17-460D-4839-9702-9C427FA97854}" dt="2026-03-23T06:46:59.003" v="3" actId="20577"/>
        <pc:sldMkLst>
          <pc:docMk/>
          <pc:sldMk cId="865073671" sldId="471"/>
        </pc:sldMkLst>
        <pc:spChg chg="mod">
          <ac:chgData name="Chris Arnold" userId="2326f62b-5e6b-4cfd-be43-f0c73addf45c" providerId="ADAL" clId="{08E2EC17-460D-4839-9702-9C427FA97854}" dt="2026-03-23T06:46:59.003" v="3" actId="20577"/>
          <ac:spMkLst>
            <pc:docMk/>
            <pc:sldMk cId="865073671" sldId="471"/>
            <ac:spMk id="6" creationId="{7E984DB9-31E8-A50C-81CD-88BE4F263319}"/>
          </ac:spMkLst>
        </pc:spChg>
      </pc:sldChg>
      <pc:sldChg chg="del">
        <pc:chgData name="Chris Arnold" userId="2326f62b-5e6b-4cfd-be43-f0c73addf45c" providerId="ADAL" clId="{08E2EC17-460D-4839-9702-9C427FA97854}" dt="2026-03-23T06:58:19.431" v="274" actId="47"/>
        <pc:sldMkLst>
          <pc:docMk/>
          <pc:sldMk cId="3132577199" sldId="496"/>
        </pc:sldMkLst>
      </pc:sldChg>
      <pc:sldChg chg="del">
        <pc:chgData name="Chris Arnold" userId="2326f62b-5e6b-4cfd-be43-f0c73addf45c" providerId="ADAL" clId="{08E2EC17-460D-4839-9702-9C427FA97854}" dt="2026-03-23T07:01:00.294" v="385" actId="47"/>
        <pc:sldMkLst>
          <pc:docMk/>
          <pc:sldMk cId="3638177664" sldId="505"/>
        </pc:sldMkLst>
      </pc:sldChg>
      <pc:sldChg chg="modSp mod modAnim">
        <pc:chgData name="Chris Arnold" userId="2326f62b-5e6b-4cfd-be43-f0c73addf45c" providerId="ADAL" clId="{08E2EC17-460D-4839-9702-9C427FA97854}" dt="2026-03-23T07:02:01.774" v="410" actId="20577"/>
        <pc:sldMkLst>
          <pc:docMk/>
          <pc:sldMk cId="1417655110" sldId="506"/>
        </pc:sldMkLst>
        <pc:spChg chg="mod">
          <ac:chgData name="Chris Arnold" userId="2326f62b-5e6b-4cfd-be43-f0c73addf45c" providerId="ADAL" clId="{08E2EC17-460D-4839-9702-9C427FA97854}" dt="2026-03-23T07:02:01.774" v="410" actId="20577"/>
          <ac:spMkLst>
            <pc:docMk/>
            <pc:sldMk cId="1417655110" sldId="506"/>
            <ac:spMk id="6" creationId="{04212BC1-7535-E5B7-9DED-EDAFFB9214C9}"/>
          </ac:spMkLst>
        </pc:spChg>
      </pc:sldChg>
      <pc:sldChg chg="modSp mod">
        <pc:chgData name="Chris Arnold" userId="2326f62b-5e6b-4cfd-be43-f0c73addf45c" providerId="ADAL" clId="{08E2EC17-460D-4839-9702-9C427FA97854}" dt="2026-03-23T07:00:26.829" v="384" actId="255"/>
        <pc:sldMkLst>
          <pc:docMk/>
          <pc:sldMk cId="3203907552" sldId="507"/>
        </pc:sldMkLst>
        <pc:spChg chg="mod">
          <ac:chgData name="Chris Arnold" userId="2326f62b-5e6b-4cfd-be43-f0c73addf45c" providerId="ADAL" clId="{08E2EC17-460D-4839-9702-9C427FA97854}" dt="2026-03-23T07:00:26.829" v="384" actId="255"/>
          <ac:spMkLst>
            <pc:docMk/>
            <pc:sldMk cId="3203907552" sldId="507"/>
            <ac:spMk id="6" creationId="{8B5207F2-60F4-A354-BF03-915DFC84F7EA}"/>
          </ac:spMkLst>
        </pc:spChg>
      </pc:sldChg>
      <pc:sldChg chg="del">
        <pc:chgData name="Chris Arnold" userId="2326f62b-5e6b-4cfd-be43-f0c73addf45c" providerId="ADAL" clId="{08E2EC17-460D-4839-9702-9C427FA97854}" dt="2026-03-23T06:58:19.431" v="274" actId="47"/>
        <pc:sldMkLst>
          <pc:docMk/>
          <pc:sldMk cId="2951503205" sldId="510"/>
        </pc:sldMkLst>
      </pc:sldChg>
      <pc:sldChg chg="modSp mod">
        <pc:chgData name="Chris Arnold" userId="2326f62b-5e6b-4cfd-be43-f0c73addf45c" providerId="ADAL" clId="{08E2EC17-460D-4839-9702-9C427FA97854}" dt="2026-03-23T07:04:23.207" v="421" actId="6549"/>
        <pc:sldMkLst>
          <pc:docMk/>
          <pc:sldMk cId="2279011322" sldId="528"/>
        </pc:sldMkLst>
        <pc:spChg chg="mod">
          <ac:chgData name="Chris Arnold" userId="2326f62b-5e6b-4cfd-be43-f0c73addf45c" providerId="ADAL" clId="{08E2EC17-460D-4839-9702-9C427FA97854}" dt="2026-03-23T07:03:58.984" v="419" actId="20577"/>
          <ac:spMkLst>
            <pc:docMk/>
            <pc:sldMk cId="2279011322" sldId="528"/>
            <ac:spMk id="3" creationId="{5226ACAB-6701-2C33-1BF2-17B3E690AA76}"/>
          </ac:spMkLst>
        </pc:spChg>
        <pc:graphicFrameChg chg="modGraphic">
          <ac:chgData name="Chris Arnold" userId="2326f62b-5e6b-4cfd-be43-f0c73addf45c" providerId="ADAL" clId="{08E2EC17-460D-4839-9702-9C427FA97854}" dt="2026-03-23T07:04:23.207" v="421" actId="6549"/>
          <ac:graphicFrameMkLst>
            <pc:docMk/>
            <pc:sldMk cId="2279011322" sldId="528"/>
            <ac:graphicFrameMk id="4" creationId="{98E96E63-E608-D67D-12CC-4D0B95F64432}"/>
          </ac:graphicFrameMkLst>
        </pc:graphicFrameChg>
      </pc:sldChg>
      <pc:sldChg chg="del">
        <pc:chgData name="Chris Arnold" userId="2326f62b-5e6b-4cfd-be43-f0c73addf45c" providerId="ADAL" clId="{08E2EC17-460D-4839-9702-9C427FA97854}" dt="2026-03-23T07:01:00.294" v="385" actId="47"/>
        <pc:sldMkLst>
          <pc:docMk/>
          <pc:sldMk cId="1739920020" sldId="529"/>
        </pc:sldMkLst>
      </pc:sldChg>
      <pc:sldChg chg="modSp new mod">
        <pc:chgData name="Chris Arnold" userId="2326f62b-5e6b-4cfd-be43-f0c73addf45c" providerId="ADAL" clId="{08E2EC17-460D-4839-9702-9C427FA97854}" dt="2026-03-23T07:46:04.761" v="528" actId="20577"/>
        <pc:sldMkLst>
          <pc:docMk/>
          <pc:sldMk cId="2065753564" sldId="529"/>
        </pc:sldMkLst>
        <pc:spChg chg="mod">
          <ac:chgData name="Chris Arnold" userId="2326f62b-5e6b-4cfd-be43-f0c73addf45c" providerId="ADAL" clId="{08E2EC17-460D-4839-9702-9C427FA97854}" dt="2026-03-23T07:45:58.193" v="510" actId="20577"/>
          <ac:spMkLst>
            <pc:docMk/>
            <pc:sldMk cId="2065753564" sldId="529"/>
            <ac:spMk id="2" creationId="{BB9FA389-1BE2-C910-A8C5-3E011B4A6B09}"/>
          </ac:spMkLst>
        </pc:spChg>
        <pc:spChg chg="mod">
          <ac:chgData name="Chris Arnold" userId="2326f62b-5e6b-4cfd-be43-f0c73addf45c" providerId="ADAL" clId="{08E2EC17-460D-4839-9702-9C427FA97854}" dt="2026-03-23T07:46:04.761" v="528" actId="20577"/>
          <ac:spMkLst>
            <pc:docMk/>
            <pc:sldMk cId="2065753564" sldId="529"/>
            <ac:spMk id="3" creationId="{51A23AEA-9B3E-A8DD-A23D-9A2AAE2787A0}"/>
          </ac:spMkLst>
        </pc:spChg>
      </pc:sldChg>
      <pc:sldChg chg="addSp modSp new mod">
        <pc:chgData name="Chris Arnold" userId="2326f62b-5e6b-4cfd-be43-f0c73addf45c" providerId="ADAL" clId="{08E2EC17-460D-4839-9702-9C427FA97854}" dt="2026-03-23T08:11:03.080" v="716" actId="255"/>
        <pc:sldMkLst>
          <pc:docMk/>
          <pc:sldMk cId="457936213" sldId="530"/>
        </pc:sldMkLst>
        <pc:spChg chg="mod">
          <ac:chgData name="Chris Arnold" userId="2326f62b-5e6b-4cfd-be43-f0c73addf45c" providerId="ADAL" clId="{08E2EC17-460D-4839-9702-9C427FA97854}" dt="2026-03-23T07:47:15.845" v="550" actId="20577"/>
          <ac:spMkLst>
            <pc:docMk/>
            <pc:sldMk cId="457936213" sldId="530"/>
            <ac:spMk id="2" creationId="{DDD5E709-371B-4335-E101-60D83B2C37A6}"/>
          </ac:spMkLst>
        </pc:spChg>
        <pc:spChg chg="mod">
          <ac:chgData name="Chris Arnold" userId="2326f62b-5e6b-4cfd-be43-f0c73addf45c" providerId="ADAL" clId="{08E2EC17-460D-4839-9702-9C427FA97854}" dt="2026-03-23T07:49:44.974" v="605" actId="20577"/>
          <ac:spMkLst>
            <pc:docMk/>
            <pc:sldMk cId="457936213" sldId="530"/>
            <ac:spMk id="3" creationId="{A8F892E7-EFE3-30A9-AF75-4AA270933811}"/>
          </ac:spMkLst>
        </pc:spChg>
        <pc:spChg chg="add mod">
          <ac:chgData name="Chris Arnold" userId="2326f62b-5e6b-4cfd-be43-f0c73addf45c" providerId="ADAL" clId="{08E2EC17-460D-4839-9702-9C427FA97854}" dt="2026-03-23T08:11:03.080" v="716" actId="255"/>
          <ac:spMkLst>
            <pc:docMk/>
            <pc:sldMk cId="457936213" sldId="530"/>
            <ac:spMk id="5" creationId="{77812BE3-80D5-BB36-4D40-19E8059B3B79}"/>
          </ac:spMkLst>
        </pc:spChg>
        <pc:graphicFrameChg chg="add mod modGraphic">
          <ac:chgData name="Chris Arnold" userId="2326f62b-5e6b-4cfd-be43-f0c73addf45c" providerId="ADAL" clId="{08E2EC17-460D-4839-9702-9C427FA97854}" dt="2026-03-23T08:10:12.753" v="630" actId="1076"/>
          <ac:graphicFrameMkLst>
            <pc:docMk/>
            <pc:sldMk cId="457936213" sldId="530"/>
            <ac:graphicFrameMk id="4" creationId="{24E1DBF4-90DA-455E-147E-4F66EB5536EF}"/>
          </ac:graphicFrameMkLst>
        </pc:graphicFrameChg>
      </pc:sldChg>
      <pc:sldChg chg="del">
        <pc:chgData name="Chris Arnold" userId="2326f62b-5e6b-4cfd-be43-f0c73addf45c" providerId="ADAL" clId="{08E2EC17-460D-4839-9702-9C427FA97854}" dt="2026-03-23T06:59:03.863" v="275" actId="47"/>
        <pc:sldMkLst>
          <pc:docMk/>
          <pc:sldMk cId="1514871577" sldId="530"/>
        </pc:sldMkLst>
      </pc:sldChg>
      <pc:sldChg chg="addSp modSp new mod">
        <pc:chgData name="Chris Arnold" userId="2326f62b-5e6b-4cfd-be43-f0c73addf45c" providerId="ADAL" clId="{08E2EC17-460D-4839-9702-9C427FA97854}" dt="2026-03-23T08:27:51.409" v="969" actId="1076"/>
        <pc:sldMkLst>
          <pc:docMk/>
          <pc:sldMk cId="1584393832" sldId="531"/>
        </pc:sldMkLst>
        <pc:spChg chg="mod">
          <ac:chgData name="Chris Arnold" userId="2326f62b-5e6b-4cfd-be43-f0c73addf45c" providerId="ADAL" clId="{08E2EC17-460D-4839-9702-9C427FA97854}" dt="2026-03-23T08:27:31.989" v="966" actId="1076"/>
          <ac:spMkLst>
            <pc:docMk/>
            <pc:sldMk cId="1584393832" sldId="531"/>
            <ac:spMk id="2" creationId="{32DAE65D-09F6-DB17-C7C8-42EA379CFAE0}"/>
          </ac:spMkLst>
        </pc:spChg>
        <pc:spChg chg="mod">
          <ac:chgData name="Chris Arnold" userId="2326f62b-5e6b-4cfd-be43-f0c73addf45c" providerId="ADAL" clId="{08E2EC17-460D-4839-9702-9C427FA97854}" dt="2026-03-23T08:27:31.989" v="966" actId="1076"/>
          <ac:spMkLst>
            <pc:docMk/>
            <pc:sldMk cId="1584393832" sldId="531"/>
            <ac:spMk id="3" creationId="{3693A331-D4C0-8A05-1EB6-40EF6CDDF981}"/>
          </ac:spMkLst>
        </pc:spChg>
        <pc:graphicFrameChg chg="add mod modGraphic">
          <ac:chgData name="Chris Arnold" userId="2326f62b-5e6b-4cfd-be43-f0c73addf45c" providerId="ADAL" clId="{08E2EC17-460D-4839-9702-9C427FA97854}" dt="2026-03-23T08:27:51.409" v="969" actId="1076"/>
          <ac:graphicFrameMkLst>
            <pc:docMk/>
            <pc:sldMk cId="1584393832" sldId="531"/>
            <ac:graphicFrameMk id="4" creationId="{339DFD71-A80A-541F-0C6A-B2E7FE91E342}"/>
          </ac:graphicFrameMkLst>
        </pc:graphicFrameChg>
      </pc:sldChg>
      <pc:sldChg chg="modSp add mod">
        <pc:chgData name="Chris Arnold" userId="2326f62b-5e6b-4cfd-be43-f0c73addf45c" providerId="ADAL" clId="{08E2EC17-460D-4839-9702-9C427FA97854}" dt="2026-03-23T09:32:14.174" v="1538" actId="20577"/>
        <pc:sldMkLst>
          <pc:docMk/>
          <pc:sldMk cId="2296728709" sldId="532"/>
        </pc:sldMkLst>
        <pc:spChg chg="mod">
          <ac:chgData name="Chris Arnold" userId="2326f62b-5e6b-4cfd-be43-f0c73addf45c" providerId="ADAL" clId="{08E2EC17-460D-4839-9702-9C427FA97854}" dt="2026-03-23T09:27:21.504" v="1302"/>
          <ac:spMkLst>
            <pc:docMk/>
            <pc:sldMk cId="2296728709" sldId="532"/>
            <ac:spMk id="2" creationId="{7E5298DA-1C53-75FC-1663-A0E327763994}"/>
          </ac:spMkLst>
        </pc:spChg>
        <pc:spChg chg="mod">
          <ac:chgData name="Chris Arnold" userId="2326f62b-5e6b-4cfd-be43-f0c73addf45c" providerId="ADAL" clId="{08E2EC17-460D-4839-9702-9C427FA97854}" dt="2026-03-23T09:32:14.174" v="1538" actId="20577"/>
          <ac:spMkLst>
            <pc:docMk/>
            <pc:sldMk cId="2296728709" sldId="532"/>
            <ac:spMk id="3" creationId="{2071ED41-71E1-4ECD-E928-8700942417A5}"/>
          </ac:spMkLst>
        </pc:spChg>
      </pc:sldChg>
      <pc:sldChg chg="modSp add mod ord">
        <pc:chgData name="Chris Arnold" userId="2326f62b-5e6b-4cfd-be43-f0c73addf45c" providerId="ADAL" clId="{08E2EC17-460D-4839-9702-9C427FA97854}" dt="2026-03-23T09:27:14.993" v="1301" actId="21"/>
        <pc:sldMkLst>
          <pc:docMk/>
          <pc:sldMk cId="4255139776" sldId="533"/>
        </pc:sldMkLst>
        <pc:spChg chg="mod">
          <ac:chgData name="Chris Arnold" userId="2326f62b-5e6b-4cfd-be43-f0c73addf45c" providerId="ADAL" clId="{08E2EC17-460D-4839-9702-9C427FA97854}" dt="2026-03-23T09:27:14.993" v="1301" actId="21"/>
          <ac:spMkLst>
            <pc:docMk/>
            <pc:sldMk cId="4255139776" sldId="533"/>
            <ac:spMk id="2" creationId="{69D39F6C-5CC0-69B3-8135-76F228EAF2E1}"/>
          </ac:spMkLst>
        </pc:spChg>
      </pc:sldChg>
      <pc:sldChg chg="modSp new mod">
        <pc:chgData name="Chris Arnold" userId="2326f62b-5e6b-4cfd-be43-f0c73addf45c" providerId="ADAL" clId="{08E2EC17-460D-4839-9702-9C427FA97854}" dt="2026-03-23T09:52:59.765" v="1698" actId="20577"/>
        <pc:sldMkLst>
          <pc:docMk/>
          <pc:sldMk cId="2567364234" sldId="534"/>
        </pc:sldMkLst>
        <pc:spChg chg="mod">
          <ac:chgData name="Chris Arnold" userId="2326f62b-5e6b-4cfd-be43-f0c73addf45c" providerId="ADAL" clId="{08E2EC17-460D-4839-9702-9C427FA97854}" dt="2026-03-23T09:37:37.137" v="1617" actId="20577"/>
          <ac:spMkLst>
            <pc:docMk/>
            <pc:sldMk cId="2567364234" sldId="534"/>
            <ac:spMk id="2" creationId="{10D6C3C4-740D-BD83-7971-BE3AE3F6F04C}"/>
          </ac:spMkLst>
        </pc:spChg>
        <pc:spChg chg="mod">
          <ac:chgData name="Chris Arnold" userId="2326f62b-5e6b-4cfd-be43-f0c73addf45c" providerId="ADAL" clId="{08E2EC17-460D-4839-9702-9C427FA97854}" dt="2026-03-23T09:52:59.765" v="1698" actId="20577"/>
          <ac:spMkLst>
            <pc:docMk/>
            <pc:sldMk cId="2567364234" sldId="534"/>
            <ac:spMk id="3" creationId="{97DE800D-D3D2-1E79-9CE3-2BF52CFD19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7EA1514-F326-1840-B15D-D4720038598B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A3E024E-F835-6D45-89C3-0E2F93EE79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7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F970-2CB9-352B-345C-591690C56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E2FFA-0706-9000-106B-802CB551D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75D48-3553-D08A-1B5B-D346C8B2F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  <a:p>
            <a:endParaRPr lang="en-AU"/>
          </a:p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08F2B-1556-B0F9-4D46-9E04A9297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14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1AD6-C594-87A5-7AC1-82B383267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4FDC4-EEF3-8481-9284-E1E7CDB67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9F8AC0-EA18-CFD8-7394-887A78F70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>
                <a:solidFill>
                  <a:srgbClr val="424242"/>
                </a:solidFill>
              </a:rPr>
              <a:t>True.</a:t>
            </a:r>
            <a:endParaRPr lang="en-US" dirty="0"/>
          </a:p>
          <a:p>
            <a:endParaRPr lang="en-AU" dirty="0">
              <a:solidFill>
                <a:srgbClr val="424242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B52CE-6FCC-285D-8169-6AA4F0390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337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99EBD-A218-3CF4-C623-6B5043D2E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8D266-05D4-3F8B-8B9D-3755A9971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FF292-072E-C3D2-8562-3232D949B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>
                <a:solidFill>
                  <a:srgbClr val="424242"/>
                </a:solidFill>
              </a:rPr>
              <a:t>False: </a:t>
            </a:r>
            <a:r>
              <a:rPr lang="en-AU" dirty="0">
                <a:solidFill>
                  <a:srgbClr val="424242"/>
                </a:solidFill>
              </a:rPr>
              <a:t>It adds an item to the end of the list.</a:t>
            </a:r>
            <a:endParaRPr lang="en-US" dirty="0"/>
          </a:p>
          <a:p>
            <a:endParaRPr lang="en-AU" dirty="0">
              <a:solidFill>
                <a:srgbClr val="424242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1AA98-8495-BE65-6AF5-CA9AFA1B6A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026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43A94-5331-303D-9045-00A2892A3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A55188-9D5B-4F5B-CFF9-1FD790D68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6B5D5A-BF7B-16FB-DF0A-ACD546DA5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dirty="0">
                <a:solidFill>
                  <a:srgbClr val="424242"/>
                </a:solidFill>
              </a:rPr>
              <a:t>False: </a:t>
            </a:r>
            <a:r>
              <a:rPr lang="en-AU" dirty="0">
                <a:solidFill>
                  <a:srgbClr val="424242"/>
                </a:solidFill>
              </a:rPr>
              <a:t>Lists are mutable. </a:t>
            </a:r>
            <a:endParaRPr lang="en-US" dirty="0">
              <a:ea typeface="Calibri"/>
              <a:cs typeface="Calibri"/>
            </a:endParaRPr>
          </a:p>
          <a:p>
            <a:endParaRPr lang="en-AU" dirty="0">
              <a:solidFill>
                <a:srgbClr val="424242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D37E9-FC6F-E6A0-4237-DF0752C942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327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9965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3684968F-F73A-FFEA-7E88-F8A57095A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3B498B38-7DAE-FEFE-BEEE-1AB6C7AE63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04AC73D0-8F8B-8489-2125-BC1402CC23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8175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7827E560-6495-1E8B-DFF5-A69CF3EF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8F25D49D-0E49-72BA-123E-689924774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5666832F-F7F2-FC74-7274-941752564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3826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1F60C230-53F2-E87E-2C12-07A72A60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5C8C0D4B-A2CC-2EA0-CDC4-8EF40B08A7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BD10403F-48FE-B614-AE0B-53F0856CD4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59759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AA1CF917-4704-903A-3B62-3B0ABAF04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E545F5C3-862E-8B72-EB50-76AED86CC2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463010F1-DCFB-7F4D-A333-C8CCF76A8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0663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8FDF7D2F-4E33-1CEA-A27C-9BBEBA15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5757D43B-88AD-3788-8029-C8F71C498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0A5A2F5D-F759-1F23-535A-F5D6DEA54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02893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4C75F11A-E56C-8444-7378-D6FF407CE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EB2A1ABE-F5A8-4CFE-185C-D781A00123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F4FE4AA9-4950-A732-02CC-A88925BD19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3300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A0D4D576-B65F-4294-056B-E70C8D226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E122B81C-F390-EB99-C0BF-462205B75E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627576DB-62A5-959B-7015-FA56AC0298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50081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FD397657-5007-3B91-68EA-A8021EF69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CC9C4784-AA19-981C-0965-F84C83A0D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51406CCE-3C9C-9610-1759-1F3F1D288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7855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23A2A56A-8FD7-B70B-5617-17293AC75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561642A3-8D77-D82F-8DAF-F4D93F852F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B5D800D6-A7C5-6758-53CB-3D3CE1F676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1194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EDDC45D3-ADFA-2594-8B17-3BE92F36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5928804E-6C2D-B8B3-D363-9CACAD1F36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BB6D5BF0-0DA4-D565-8DDC-AF353ED972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65456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400131ED-46A3-539D-748E-35F338AD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84C35E89-9403-3F60-22BC-888F871A2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07F59245-B447-9E50-44D2-E2A17F67FC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63105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B2E38904-8678-EA33-2942-CCF4B401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8186C644-630B-81ED-576E-76C6117D05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B3A38771-EC5C-BA5E-2150-4011BE752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08407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AA060EA4-D426-6E58-5C91-7FC839A7B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99F161D2-EC15-A73E-D8BE-8A5743BF1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5E8EA612-C08C-F215-6408-3DBE49C1E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3264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0737595C-427F-DF85-AC64-E9D03130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1BDAC604-D20A-1EB9-BAB7-255585AF20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A7180C5A-F124-A111-E72A-458B463233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10983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8D87E981-CCF9-32B6-F7E1-F7D4BE5B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8074B0DA-08D9-6584-30AC-DD4B1F080D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6023E334-8355-ABF9-5D8E-9AEBEA90B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41904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A06D22DB-5ABD-5DD1-49F2-BE83EFA45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6A2E5AE6-4813-59DB-9AB5-2EC62F96C6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B08D48E8-9C0C-A3A5-CBA5-5F0698CDFA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235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E5D900FE-26DE-F67C-398C-6D69D832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7E2D22C6-04F0-310D-5476-031B88A76A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4D4AD57D-51A9-408A-A1A3-BEB770445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45319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A9DBEF97-E03E-E1FF-DD0F-212209972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CCBD1226-4D82-8D76-0C75-CAA7AA6DE9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84114363-D771-AFFD-5ABB-BFA2E39626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0222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C0D699F1-CDF8-0633-8A8B-E147808B6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49712BCD-3A5A-8393-C544-C4CDD00947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09FCAD88-C620-F497-22BF-0536AAE5A1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20703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A3590D3C-DA68-05FB-A633-065C71AF4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046E0592-7028-ADF8-117A-3E616D029F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0911247E-4EA0-E246-DDAF-6B3F0F519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69049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968801E1-2460-5FAE-F19E-2D6CCF322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CF120CE5-28EA-5FAB-F84E-02DC01BEFE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34964393-21C7-2B6D-6E05-47BAF82DF4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2667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331259D5-C330-D840-00E5-68EBBF016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136C1DEE-3CC0-EC7B-2B92-6874896ED1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DDCBB21B-232F-756D-8C26-4948401AA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22124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B3AE3EFD-8B24-134A-FC10-47015286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77AC46F6-39DF-7F8A-0B22-89F58A79D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F19AF099-3ECA-733A-386F-75EB0F9FC9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22316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92B528D1-246D-3B65-FFB2-9FABC1EAB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4D9923FE-8CC2-600E-C515-D19FAC35E7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F81C51AD-B487-6E14-283F-B86774D745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66006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E5B16A5A-A13C-ABAA-7DED-EF42456F5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>
            <a:extLst>
              <a:ext uri="{FF2B5EF4-FFF2-40B4-BE49-F238E27FC236}">
                <a16:creationId xmlns:a16="http://schemas.microsoft.com/office/drawing/2014/main" id="{830FC564-88EB-8D8A-CC5C-438750EE0E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2" name="Shape 252">
            <a:extLst>
              <a:ext uri="{FF2B5EF4-FFF2-40B4-BE49-F238E27FC236}">
                <a16:creationId xmlns:a16="http://schemas.microsoft.com/office/drawing/2014/main" id="{3AF037EA-EF2B-315C-66BD-62234F73CB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13385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80013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0D9BEEB9-FDED-24CA-5E6D-F1092D626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505">
            <a:extLst>
              <a:ext uri="{FF2B5EF4-FFF2-40B4-BE49-F238E27FC236}">
                <a16:creationId xmlns:a16="http://schemas.microsoft.com/office/drawing/2014/main" id="{BE24EFA0-B1F1-8498-8F94-3581BC31E7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6" name="Shape 506">
            <a:extLst>
              <a:ext uri="{FF2B5EF4-FFF2-40B4-BE49-F238E27FC236}">
                <a16:creationId xmlns:a16="http://schemas.microsoft.com/office/drawing/2014/main" id="{ED57A6F5-E5F5-F7BB-A12D-5891D61217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10964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63734C71-11CA-C1F7-2C37-415CE9EA5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505">
            <a:extLst>
              <a:ext uri="{FF2B5EF4-FFF2-40B4-BE49-F238E27FC236}">
                <a16:creationId xmlns:a16="http://schemas.microsoft.com/office/drawing/2014/main" id="{93287DCE-4233-5542-B939-B8B884914B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6" name="Shape 506">
            <a:extLst>
              <a:ext uri="{FF2B5EF4-FFF2-40B4-BE49-F238E27FC236}">
                <a16:creationId xmlns:a16="http://schemas.microsoft.com/office/drawing/2014/main" id="{593F80C1-620A-6A71-CFFF-3FB4353BE1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31748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>
          <a:extLst>
            <a:ext uri="{FF2B5EF4-FFF2-40B4-BE49-F238E27FC236}">
              <a16:creationId xmlns:a16="http://schemas.microsoft.com/office/drawing/2014/main" id="{5ACB9FCC-8CCE-85AA-FC44-7379C7597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Shape 505">
            <a:extLst>
              <a:ext uri="{FF2B5EF4-FFF2-40B4-BE49-F238E27FC236}">
                <a16:creationId xmlns:a16="http://schemas.microsoft.com/office/drawing/2014/main" id="{0FC5DC9E-954D-DA89-CC3C-5FD9A4B43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6" name="Shape 506">
            <a:extLst>
              <a:ext uri="{FF2B5EF4-FFF2-40B4-BE49-F238E27FC236}">
                <a16:creationId xmlns:a16="http://schemas.microsoft.com/office/drawing/2014/main" id="{E9634ABF-1B54-7D26-5C9E-FB65A35A7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5884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E024E-F835-6D45-89C3-0E2F93EE799A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232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436669"/>
            <a:ext cx="7010399" cy="1513033"/>
          </a:xfrm>
        </p:spPr>
        <p:txBody>
          <a:bodyPr>
            <a:noAutofit/>
          </a:bodyPr>
          <a:lstStyle>
            <a:lvl1pPr algn="l">
              <a:defRPr sz="4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239491"/>
            <a:ext cx="5725885" cy="1423801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842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5" y="1209162"/>
            <a:ext cx="11299371" cy="672421"/>
          </a:xfrm>
        </p:spPr>
        <p:txBody>
          <a:bodyPr>
            <a:noAutofit/>
          </a:bodyPr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5" y="2022764"/>
            <a:ext cx="11299371" cy="419842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446315" y="6348186"/>
            <a:ext cx="2844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48187"/>
            <a:ext cx="3860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48187"/>
            <a:ext cx="3051627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2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87" y="1949334"/>
            <a:ext cx="5384800" cy="42610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427" y="1949333"/>
            <a:ext cx="5384800" cy="42610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446315" y="6348186"/>
            <a:ext cx="2844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48187"/>
            <a:ext cx="3860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48187"/>
            <a:ext cx="3051627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4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15" y="1811562"/>
            <a:ext cx="5386917" cy="5200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315" y="2338898"/>
            <a:ext cx="5386917" cy="389045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9306" y="1811563"/>
            <a:ext cx="5389033" cy="5273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9308" y="2338898"/>
            <a:ext cx="5389033" cy="389045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446315" y="6348186"/>
            <a:ext cx="2844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48187"/>
            <a:ext cx="3860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48187"/>
            <a:ext cx="3051627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33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498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9779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4" y="1154545"/>
            <a:ext cx="4011084" cy="49983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1"/>
            <a:ext cx="7022493" cy="59536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315" y="1782617"/>
            <a:ext cx="4011084" cy="44441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46315" y="6348186"/>
            <a:ext cx="2844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48187"/>
            <a:ext cx="3860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48187"/>
            <a:ext cx="3051627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7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200727"/>
            <a:ext cx="7315200" cy="35268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446315" y="6348186"/>
            <a:ext cx="2844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48187"/>
            <a:ext cx="3860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48187"/>
            <a:ext cx="3051627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8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6314" y="1930400"/>
            <a:ext cx="11342913" cy="4298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46315" y="6348186"/>
            <a:ext cx="2844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48187"/>
            <a:ext cx="3860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48187"/>
            <a:ext cx="3051627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07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82199" y="274638"/>
            <a:ext cx="1807028" cy="59168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6314" y="1237673"/>
            <a:ext cx="9056913" cy="49538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46315" y="6348186"/>
            <a:ext cx="2844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48187"/>
            <a:ext cx="3860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48187"/>
            <a:ext cx="3051627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55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64753"/>
            <a:ext cx="10363200" cy="156086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911468" y="4870093"/>
            <a:ext cx="10363200" cy="1241057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917332" y="4229096"/>
            <a:ext cx="10366132" cy="528637"/>
          </a:xfrm>
        </p:spPr>
        <p:txBody>
          <a:bodyPr>
            <a:normAutofit/>
          </a:bodyPr>
          <a:lstStyle>
            <a:lvl1pPr marL="0" indent="0" algn="l">
              <a:buNone/>
              <a:defRPr sz="2400" b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AU"/>
              <a:t>Week/Session 00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2918188"/>
            <a:ext cx="10360268" cy="59848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/>
              <a:t>Lecture 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17332" y="3610147"/>
            <a:ext cx="10366132" cy="506589"/>
          </a:xfrm>
        </p:spPr>
        <p:txBody>
          <a:bodyPr anchor="ctr">
            <a:noAutofit/>
          </a:bodyPr>
          <a:lstStyle>
            <a:lvl1pPr marL="0" indent="0">
              <a:buNone/>
              <a:defRPr sz="20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/>
              <a:t>Lecturer:	</a:t>
            </a:r>
            <a:r>
              <a:rPr lang="en-AU" err="1"/>
              <a:t>Given_Name</a:t>
            </a:r>
            <a:r>
              <a:rPr lang="en-AU"/>
              <a:t> </a:t>
            </a:r>
            <a:r>
              <a:rPr lang="en-AU" err="1"/>
              <a:t>Family_Name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2570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 userDrawn="1"/>
        </p:nvSpPr>
        <p:spPr>
          <a:xfrm>
            <a:off x="920424" y="691642"/>
            <a:ext cx="10360351" cy="5616575"/>
          </a:xfrm>
          <a:prstGeom prst="roundRect">
            <a:avLst>
              <a:gd name="adj" fmla="val 766"/>
            </a:avLst>
          </a:prstGeom>
          <a:solidFill>
            <a:srgbClr val="D81C24">
              <a:alpha val="14902"/>
            </a:srgbClr>
          </a:solidFill>
          <a:ln>
            <a:solidFill>
              <a:srgbClr val="D8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600">
              <a:latin typeface="+mj-lt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1133" y="1293778"/>
            <a:ext cx="10084038" cy="1396829"/>
          </a:xfrm>
          <a:prstGeom prst="rect">
            <a:avLst/>
          </a:prstGeom>
          <a:noFill/>
        </p:spPr>
        <p:txBody>
          <a:bodyPr anchor="t"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AU" noProof="0"/>
              <a:t>Session/Presentation Title</a:t>
            </a:r>
          </a:p>
        </p:txBody>
      </p:sp>
      <p:sp>
        <p:nvSpPr>
          <p:cNvPr id="10" name="Table Placeholder 9"/>
          <p:cNvSpPr>
            <a:spLocks noGrp="1"/>
          </p:cNvSpPr>
          <p:nvPr>
            <p:ph type="tbl" sz="quarter" idx="13" hasCustomPrompt="1"/>
          </p:nvPr>
        </p:nvSpPr>
        <p:spPr>
          <a:xfrm>
            <a:off x="1051131" y="4572000"/>
            <a:ext cx="10084039" cy="1610037"/>
          </a:xfrm>
          <a:noFill/>
        </p:spPr>
        <p:txBody>
          <a:bodyPr anchor="t">
            <a:normAutofit/>
          </a:bodyPr>
          <a:lstStyle>
            <a:lvl1pPr marL="0" indent="0">
              <a:buNone/>
              <a:defRPr sz="14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en-AU"/>
              <a:t>Replace this with a table of units – 2 columns – National ID and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51132" y="819761"/>
            <a:ext cx="10084039" cy="341659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8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AU"/>
              <a:t>Week/Session 00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51130" y="4119576"/>
            <a:ext cx="10084038" cy="360698"/>
          </a:xfrm>
          <a:noFill/>
        </p:spPr>
        <p:txBody>
          <a:bodyPr vert="horz" lIns="91440" tIns="45720" rIns="91440" bIns="45720"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AU" sz="1600" b="0" dirty="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noProof="0"/>
              <a:t>Cluster Name</a:t>
            </a:r>
            <a:endParaRPr lang="en-AU"/>
          </a:p>
        </p:txBody>
      </p:sp>
      <p:sp>
        <p:nvSpPr>
          <p:cNvPr id="9" name="TextBox 8"/>
          <p:cNvSpPr txBox="1"/>
          <p:nvPr userDrawn="1"/>
        </p:nvSpPr>
        <p:spPr>
          <a:xfrm>
            <a:off x="1051132" y="2852738"/>
            <a:ext cx="1939896" cy="5723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indent="0">
              <a:spcBef>
                <a:spcPct val="20000"/>
              </a:spcBef>
              <a:buFont typeface="Arial"/>
              <a:buNone/>
              <a:defRPr sz="2800" baseline="0">
                <a:solidFill>
                  <a:schemeClr val="bg1">
                    <a:lumMod val="75000"/>
                  </a:schemeClr>
                </a:solidFill>
              </a:defRPr>
            </a:lvl1pPr>
            <a:lvl2pPr indent="0" algn="ctr">
              <a:spcBef>
                <a:spcPct val="20000"/>
              </a:spcBef>
              <a:buFont typeface="Arial"/>
              <a:buNone/>
              <a:defRPr sz="2800" baseline="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/>
              <a:buNone/>
              <a:defRPr sz="2400" baseline="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/>
              <a:buNone/>
              <a:defRPr sz="2000" baseline="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sz="2000">
                <a:solidFill>
                  <a:schemeClr val="bg1">
                    <a:lumMod val="75000"/>
                  </a:schemeClr>
                </a:solidFill>
                <a:latin typeface="+mj-lt"/>
              </a:rPr>
              <a:t>Presented by: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6" hasCustomPrompt="1"/>
          </p:nvPr>
        </p:nvSpPr>
        <p:spPr>
          <a:xfrm>
            <a:off x="2991027" y="2862841"/>
            <a:ext cx="8144143" cy="562200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 noProof="0">
                <a:solidFill>
                  <a:schemeClr val="bg1">
                    <a:lumMod val="95000"/>
                  </a:schemeClr>
                </a:solidFill>
              </a:rPr>
              <a:t>Given &amp; Last Name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7" hasCustomPrompt="1"/>
          </p:nvPr>
        </p:nvSpPr>
        <p:spPr>
          <a:xfrm>
            <a:off x="1050925" y="3516767"/>
            <a:ext cx="10083800" cy="602809"/>
          </a:xfr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AU" sz="2000" dirty="0" smtClean="0">
                <a:latin typeface="+mj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3200" b="1">
                <a:solidFill>
                  <a:schemeClr val="bg1">
                    <a:lumMod val="85000"/>
                  </a:schemeClr>
                </a:solidFill>
              </a:rPr>
              <a:t>Course ID and Title</a:t>
            </a:r>
          </a:p>
        </p:txBody>
      </p:sp>
    </p:spTree>
    <p:extLst>
      <p:ext uri="{BB962C8B-B14F-4D97-AF65-F5344CB8AC3E}">
        <p14:creationId xmlns:p14="http://schemas.microsoft.com/office/powerpoint/2010/main" val="4190069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74" userDrawn="1">
          <p15:clr>
            <a:srgbClr val="FBAE40"/>
          </p15:clr>
        </p15:guide>
        <p15:guide id="4" pos="7106" userDrawn="1">
          <p15:clr>
            <a:srgbClr val="FBAE40"/>
          </p15:clr>
        </p15:guide>
        <p15:guide id="5" orient="horz" pos="436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orient="horz" pos="17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09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406903"/>
            <a:ext cx="8514522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906713"/>
            <a:ext cx="851452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F7D5DACE-FF0F-2D46-93D3-295ECF1DA8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12656" y="2900636"/>
            <a:ext cx="1769744" cy="2868342"/>
          </a:xfrm>
          <a:prstGeom prst="roundRect">
            <a:avLst>
              <a:gd name="adj" fmla="val 4112"/>
            </a:avLst>
          </a:prstGeom>
          <a:blipFill>
            <a:blip r:embed="rId2"/>
            <a:stretch>
              <a:fillRect l="16" r="16"/>
            </a:stretch>
          </a:blipFill>
          <a:ln w="12700" cap="rnd">
            <a:solidFill>
              <a:srgbClr val="D8262E">
                <a:alpha val="50000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70644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9892"/>
            <a:ext cx="10972800" cy="100320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65600" y="1600202"/>
            <a:ext cx="7416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CB08A67E-3ED8-7842-9A36-FDA51ABEB2A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1600203"/>
            <a:ext cx="2792484" cy="4525963"/>
          </a:xfrm>
          <a:prstGeom prst="roundRect">
            <a:avLst>
              <a:gd name="adj" fmla="val 3374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43020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73062"/>
            <a:ext cx="7212496" cy="491187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16528" y="973063"/>
            <a:ext cx="3030587" cy="4911873"/>
          </a:xfrm>
          <a:prstGeom prst="roundRect">
            <a:avLst>
              <a:gd name="adj" fmla="val 3523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89589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9126EA6-A663-AD41-9474-BAFD5F8607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918741"/>
            <a:ext cx="10972800" cy="4948123"/>
          </a:xfrm>
          <a:prstGeom prst="roundRect">
            <a:avLst>
              <a:gd name="adj" fmla="val 1876"/>
            </a:avLst>
          </a:prstGeom>
          <a:blipFill>
            <a:blip r:embed="rId2"/>
            <a:stretch>
              <a:fillRect l="16" r="16"/>
            </a:stretch>
          </a:blipFill>
          <a:ln>
            <a:solidFill>
              <a:srgbClr val="D8262E">
                <a:alpha val="50196"/>
              </a:srgbClr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1824688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89C6-6277-454E-AECF-6C3872A9450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D779252-2DB5-164E-B413-9653D35CC4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51813" y="973063"/>
            <a:ext cx="3030587" cy="4911873"/>
          </a:xfrm>
          <a:prstGeom prst="roundRect">
            <a:avLst>
              <a:gd name="adj" fmla="val 4419"/>
            </a:avLst>
          </a:prstGeom>
          <a:blipFill>
            <a:blip r:embed="rId2">
              <a:alphaModFix/>
            </a:blip>
            <a:stretch>
              <a:fillRect l="16" r="1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FC5ADCF-7EA1-3644-9B75-D84582085E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671513"/>
            <a:ext cx="7416800" cy="56657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07892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7079" y="1139142"/>
            <a:ext cx="11342912" cy="6724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314" y="1930400"/>
            <a:ext cx="11342913" cy="429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446315" y="6348186"/>
            <a:ext cx="2844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489C6-6277-454E-AECF-6C3872A9450F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48187"/>
            <a:ext cx="3860800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48187"/>
            <a:ext cx="3051627" cy="232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F46F4-8938-5C4A-A3E0-434D3C3588F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057997-93D8-AF3C-D91F-505D8AC3A64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471174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67" r:id="rId12"/>
    <p:sldLayoutId id="2147483650" r:id="rId13"/>
    <p:sldLayoutId id="2147483661" r:id="rId14"/>
    <p:sldLayoutId id="2147483662" r:id="rId15"/>
    <p:sldLayoutId id="2147483663" r:id="rId16"/>
    <p:sldLayoutId id="2147483664" r:id="rId17"/>
    <p:sldLayoutId id="2147483660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python.org/" TargetMode="External"/><Relationship Id="rId2" Type="http://schemas.openxmlformats.org/officeDocument/2006/relationships/hyperlink" Target="https://www.py4e.com/lesson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uniskills.library.curtin.edu.au/numeracy" TargetMode="External"/><Relationship Id="rId4" Type="http://schemas.openxmlformats.org/officeDocument/2006/relationships/hyperlink" Target="https://www.w3schools.com/python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61C66-952C-58CB-71E6-192FBCEF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EEF69-FBE6-ED73-CE25-C033FD74D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284" y="1248697"/>
            <a:ext cx="10363200" cy="723349"/>
          </a:xfrm>
        </p:spPr>
        <p:txBody>
          <a:bodyPr>
            <a:normAutofit fontScale="90000"/>
          </a:bodyPr>
          <a:lstStyle/>
          <a:p>
            <a:r>
              <a:rPr lang="en-US" sz="4200" dirty="0">
                <a:latin typeface="Arial" panose="020B0604020202020204" pitchFamily="34" charset="0"/>
              </a:rPr>
              <a:t>Introductory Programming Techniques</a:t>
            </a:r>
            <a:endParaRPr lang="en-AU" sz="4200" dirty="0">
              <a:latin typeface="Arial" panose="020B0604020202020204" pitchFamily="34" charset="0"/>
            </a:endParaRP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670CB82-4E2B-4E91-CBB1-A66207EB65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5216" y="2024679"/>
            <a:ext cx="10360268" cy="598488"/>
          </a:xfrm>
        </p:spPr>
        <p:txBody>
          <a:bodyPr/>
          <a:lstStyle/>
          <a:p>
            <a:r>
              <a:rPr lang="en-AU" dirty="0">
                <a:solidFill>
                  <a:schemeClr val="tx1"/>
                </a:solidFill>
              </a:rPr>
              <a:t>North Metropolitan TAFE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984DB9-31E8-A50C-81CD-88BE4F2633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9067" y="2948727"/>
            <a:ext cx="10366132" cy="506589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ICTPRG302, MEM30012: Session 8</a:t>
            </a:r>
          </a:p>
          <a:p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CBE6FD-F396-C1B8-229A-9E5AEEDD3656}"/>
              </a:ext>
            </a:extLst>
          </p:cNvPr>
          <p:cNvSpPr txBox="1"/>
          <p:nvPr/>
        </p:nvSpPr>
        <p:spPr>
          <a:xfrm>
            <a:off x="579067" y="3780877"/>
            <a:ext cx="6440129" cy="496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Certificate IV in IT (Data Science and AI)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AEE735-030A-83D9-9602-F25F87C5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073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11195-59DF-5F4E-8AB3-FBB2C3F39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486" y="2134488"/>
            <a:ext cx="11698514" cy="45634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Python collection types, continued</a:t>
            </a:r>
          </a:p>
          <a:p>
            <a:r>
              <a:rPr lang="en-US" dirty="0">
                <a:ea typeface="+mn-lt"/>
                <a:cs typeface="+mn-lt"/>
              </a:rPr>
              <a:t>More statistics: variances, standard deviations </a:t>
            </a:r>
          </a:p>
          <a:p>
            <a:r>
              <a:rPr lang="en-US" dirty="0">
                <a:ea typeface="+mn-lt"/>
                <a:cs typeface="+mn-lt"/>
              </a:rPr>
              <a:t>Dictionaries: revise how to </a:t>
            </a:r>
            <a:r>
              <a:rPr lang="en-US" b="1" dirty="0">
                <a:ea typeface="+mn-lt"/>
                <a:cs typeface="+mn-lt"/>
              </a:rPr>
              <a:t>store data</a:t>
            </a:r>
            <a:r>
              <a:rPr lang="en-US" dirty="0">
                <a:ea typeface="+mn-lt"/>
                <a:cs typeface="+mn-lt"/>
              </a:rPr>
              <a:t> in key-value 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pairs</a:t>
            </a:r>
          </a:p>
          <a:p>
            <a:r>
              <a:rPr lang="en-US" dirty="0">
                <a:ea typeface="+mn-lt"/>
                <a:cs typeface="+mn-lt"/>
              </a:rPr>
              <a:t>Dictionaries: learn </a:t>
            </a:r>
            <a:r>
              <a:rPr lang="en-US" b="1" dirty="0">
                <a:ea typeface="+mn-lt"/>
                <a:cs typeface="+mn-lt"/>
              </a:rPr>
              <a:t>how to loop </a:t>
            </a:r>
            <a:r>
              <a:rPr lang="en-US" dirty="0">
                <a:ea typeface="+mn-lt"/>
                <a:cs typeface="+mn-lt"/>
              </a:rPr>
              <a:t>through keys, values and key-value pairs.</a:t>
            </a:r>
          </a:p>
          <a:p>
            <a:r>
              <a:rPr lang="en-US" dirty="0">
                <a:ea typeface="+mn-lt"/>
                <a:cs typeface="+mn-lt"/>
              </a:rPr>
              <a:t>Use </a:t>
            </a:r>
            <a:r>
              <a:rPr lang="en-US" b="1" dirty="0">
                <a:ea typeface="+mn-lt"/>
                <a:cs typeface="+mn-lt"/>
              </a:rPr>
              <a:t>built-in functions</a:t>
            </a:r>
            <a:r>
              <a:rPr lang="en-US" dirty="0">
                <a:ea typeface="+mn-lt"/>
                <a:cs typeface="+mn-lt"/>
              </a:rPr>
              <a:t>: get(), keys(), values(), items(), etc.</a:t>
            </a:r>
            <a:endParaRPr lang="en-US" dirty="0">
              <a:cs typeface="Arial"/>
            </a:endParaRP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E8DE035-3C98-1573-FD21-A6493D99FF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388" b="26244"/>
          <a:stretch/>
        </p:blipFill>
        <p:spPr>
          <a:xfrm flipH="1">
            <a:off x="7497302" y="463700"/>
            <a:ext cx="4810812" cy="4496214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80375E8-8DAD-8F89-CD64-2285ED1E7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will I learn?</a:t>
            </a:r>
          </a:p>
        </p:txBody>
      </p:sp>
    </p:spTree>
    <p:extLst>
      <p:ext uri="{BB962C8B-B14F-4D97-AF65-F5344CB8AC3E}">
        <p14:creationId xmlns:p14="http://schemas.microsoft.com/office/powerpoint/2010/main" val="405360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11195-59DF-5F4E-8AB3-FBB2C3F39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88046"/>
            <a:ext cx="10972800" cy="456349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Weekly session exercises</a:t>
            </a:r>
          </a:p>
          <a:p>
            <a:pPr>
              <a:lnSpc>
                <a:spcPct val="150000"/>
              </a:lnSpc>
            </a:pPr>
            <a:r>
              <a:rPr lang="en-US" dirty="0"/>
              <a:t>Portfolio questions</a:t>
            </a:r>
          </a:p>
          <a:p>
            <a:pPr>
              <a:lnSpc>
                <a:spcPct val="150000"/>
              </a:lnSpc>
            </a:pPr>
            <a:r>
              <a:rPr lang="en-US" dirty="0"/>
              <a:t>Revision…practice, practice, practice!</a:t>
            </a:r>
          </a:p>
          <a:p>
            <a:pPr>
              <a:lnSpc>
                <a:spcPct val="150000"/>
              </a:lnSpc>
            </a:pPr>
            <a:r>
              <a:rPr lang="en-US" dirty="0"/>
              <a:t>Simulation project—make some features!</a:t>
            </a:r>
          </a:p>
        </p:txBody>
      </p:sp>
      <p:pic>
        <p:nvPicPr>
          <p:cNvPr id="4" name="Picture 3" descr="A cartoon snake with a black background&#10;&#10;Description automatically generated">
            <a:extLst>
              <a:ext uri="{FF2B5EF4-FFF2-40B4-BE49-F238E27FC236}">
                <a16:creationId xmlns:a16="http://schemas.microsoft.com/office/drawing/2014/main" id="{05F404F0-74F6-38B8-70D3-8ED2BC2B2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707966" y="762000"/>
            <a:ext cx="4114800" cy="6096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AE46809-386B-AA9D-DE63-F0280FB46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 complete this week</a:t>
            </a:r>
          </a:p>
        </p:txBody>
      </p:sp>
    </p:spTree>
    <p:extLst>
      <p:ext uri="{BB962C8B-B14F-4D97-AF65-F5344CB8AC3E}">
        <p14:creationId xmlns:p14="http://schemas.microsoft.com/office/powerpoint/2010/main" val="319657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ED3B9-4C72-1EBE-4E1F-940D90353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8997C-0683-A2CF-4505-66CA2FDEF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8" y="2397196"/>
            <a:ext cx="12184742" cy="103046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AU" sz="3600" dirty="0"/>
              <a:t>What can you remember? </a:t>
            </a:r>
            <a:r>
              <a:rPr lang="en-AU" sz="3600" b="1" dirty="0"/>
              <a:t>True</a:t>
            </a:r>
            <a:r>
              <a:rPr lang="en-AU" sz="3600" dirty="0"/>
              <a:t> or </a:t>
            </a:r>
            <a:r>
              <a:rPr lang="en-AU" sz="3600" b="1" dirty="0"/>
              <a:t>False?</a:t>
            </a:r>
            <a:endParaRPr lang="en-US" sz="3600" b="1" dirty="0">
              <a:cs typeface="Arial"/>
            </a:endParaRPr>
          </a:p>
          <a:p>
            <a:pPr indent="-106680" algn="ctr">
              <a:buNone/>
            </a:pPr>
            <a:endParaRPr lang="en-AU" dirty="0">
              <a:cs typeface="Arial"/>
            </a:endParaRPr>
          </a:p>
          <a:p>
            <a:pPr marL="455295" indent="0" algn="ctr">
              <a:lnSpc>
                <a:spcPct val="150000"/>
              </a:lnSpc>
              <a:spcBef>
                <a:spcPts val="1000"/>
              </a:spcBef>
              <a:buNone/>
            </a:pPr>
            <a:endParaRPr lang="en-AU" dirty="0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B9D10-19CC-B15C-3AD9-B1BF0D86CB79}"/>
              </a:ext>
            </a:extLst>
          </p:cNvPr>
          <p:cNvSpPr txBox="1"/>
          <p:nvPr/>
        </p:nvSpPr>
        <p:spPr>
          <a:xfrm>
            <a:off x="0" y="3650889"/>
            <a:ext cx="12184742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AU" sz="3400" dirty="0">
                <a:ea typeface="+mn-lt"/>
                <a:cs typeface="+mn-lt"/>
              </a:rPr>
              <a:t>Lists in Python can contain different data types.</a:t>
            </a:r>
            <a:r>
              <a:rPr lang="en-AU" sz="3400" dirty="0"/>
              <a:t> </a:t>
            </a:r>
            <a:endParaRPr lang="en-GB" sz="3400" dirty="0">
              <a:cs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C5C00D1-B980-B86A-7BDD-B57E31613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Revision: Lists</a:t>
            </a:r>
          </a:p>
        </p:txBody>
      </p:sp>
    </p:spTree>
    <p:extLst>
      <p:ext uri="{BB962C8B-B14F-4D97-AF65-F5344CB8AC3E}">
        <p14:creationId xmlns:p14="http://schemas.microsoft.com/office/powerpoint/2010/main" val="1248718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5AC53-CC65-97EE-9393-DB93D6B1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E3052-5150-DF02-B2EC-50B5CE941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2310321"/>
            <a:ext cx="12192001" cy="103046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AU" sz="3600" dirty="0"/>
              <a:t>What can you remember? </a:t>
            </a:r>
            <a:r>
              <a:rPr lang="en-AU" sz="3600" b="1" dirty="0"/>
              <a:t>True</a:t>
            </a:r>
            <a:r>
              <a:rPr lang="en-AU" sz="3600" dirty="0"/>
              <a:t> or </a:t>
            </a:r>
            <a:r>
              <a:rPr lang="en-AU" sz="3600" b="1" dirty="0"/>
              <a:t>False?</a:t>
            </a:r>
            <a:endParaRPr lang="en-US" sz="3600" b="1" dirty="0">
              <a:cs typeface="Arial"/>
            </a:endParaRPr>
          </a:p>
          <a:p>
            <a:pPr indent="-106680" algn="ctr">
              <a:buNone/>
            </a:pPr>
            <a:endParaRPr lang="en-AU" dirty="0">
              <a:cs typeface="Arial"/>
            </a:endParaRPr>
          </a:p>
          <a:p>
            <a:pPr marL="455295" indent="0" algn="ctr">
              <a:lnSpc>
                <a:spcPct val="150000"/>
              </a:lnSpc>
              <a:spcBef>
                <a:spcPts val="1000"/>
              </a:spcBef>
              <a:buNone/>
            </a:pPr>
            <a:endParaRPr lang="en-AU" dirty="0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02A8D-AA50-D4DC-7048-7666D96F4242}"/>
              </a:ext>
            </a:extLst>
          </p:cNvPr>
          <p:cNvSpPr txBox="1"/>
          <p:nvPr/>
        </p:nvSpPr>
        <p:spPr>
          <a:xfrm>
            <a:off x="0" y="3429000"/>
            <a:ext cx="12191999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AU" sz="3400" dirty="0">
                <a:latin typeface="+mj-lt"/>
                <a:ea typeface="+mn-lt"/>
                <a:cs typeface="+mn-lt"/>
              </a:rPr>
              <a:t>The append() method adds an item to the beginning of a list.</a:t>
            </a:r>
            <a:endParaRPr lang="en-GB" sz="3400" dirty="0">
              <a:latin typeface="+mj-lt"/>
              <a:ea typeface="+mn-lt"/>
              <a:cs typeface="+mn-l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2E3DCA8-8926-34EC-EC8D-2367F48DD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Revision: Lists</a:t>
            </a:r>
          </a:p>
        </p:txBody>
      </p:sp>
    </p:spTree>
    <p:extLst>
      <p:ext uri="{BB962C8B-B14F-4D97-AF65-F5344CB8AC3E}">
        <p14:creationId xmlns:p14="http://schemas.microsoft.com/office/powerpoint/2010/main" val="314479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22EF-9033-3FA1-32D1-E62261ED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F3640-AA0C-FA9A-736F-E226DF406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2139389"/>
            <a:ext cx="12192001" cy="103046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AU" sz="3600" dirty="0"/>
              <a:t>What can you remember? </a:t>
            </a:r>
            <a:r>
              <a:rPr lang="en-AU" sz="3600" b="1" dirty="0"/>
              <a:t>True</a:t>
            </a:r>
            <a:r>
              <a:rPr lang="en-AU" sz="3600" dirty="0"/>
              <a:t> or </a:t>
            </a:r>
            <a:r>
              <a:rPr lang="en-AU" sz="3600" b="1" dirty="0"/>
              <a:t>False?</a:t>
            </a:r>
            <a:endParaRPr lang="en-US" sz="3600" b="1" dirty="0">
              <a:cs typeface="Arial"/>
            </a:endParaRPr>
          </a:p>
          <a:p>
            <a:pPr indent="-106680" algn="ctr">
              <a:buNone/>
            </a:pPr>
            <a:endParaRPr lang="en-AU" dirty="0">
              <a:cs typeface="Arial"/>
            </a:endParaRPr>
          </a:p>
          <a:p>
            <a:pPr marL="455295" indent="0" algn="ctr">
              <a:lnSpc>
                <a:spcPct val="150000"/>
              </a:lnSpc>
              <a:spcBef>
                <a:spcPts val="1000"/>
              </a:spcBef>
              <a:buNone/>
            </a:pPr>
            <a:endParaRPr lang="en-AU" dirty="0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BD757-4675-BCD1-8E0C-486721635AD9}"/>
              </a:ext>
            </a:extLst>
          </p:cNvPr>
          <p:cNvSpPr txBox="1"/>
          <p:nvPr/>
        </p:nvSpPr>
        <p:spPr>
          <a:xfrm>
            <a:off x="0" y="3412275"/>
            <a:ext cx="12192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AU" sz="3400" dirty="0">
                <a:ea typeface="+mn-lt"/>
                <a:cs typeface="+mn-lt"/>
              </a:rPr>
              <a:t>Lists are immutable in Python.</a:t>
            </a:r>
            <a:endParaRPr lang="en-US" sz="3400" dirty="0">
              <a:ea typeface="+mn-lt"/>
              <a:cs typeface="+mn-lt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21E001-9683-00A6-0BB3-14F794CF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Revision: Lists</a:t>
            </a:r>
          </a:p>
        </p:txBody>
      </p:sp>
    </p:spTree>
    <p:extLst>
      <p:ext uri="{BB962C8B-B14F-4D97-AF65-F5344CB8AC3E}">
        <p14:creationId xmlns:p14="http://schemas.microsoft.com/office/powerpoint/2010/main" val="1849424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C02A3-FBBE-DE4E-88E0-CAE403292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73" y="1258529"/>
            <a:ext cx="10972800" cy="717756"/>
          </a:xfrm>
        </p:spPr>
        <p:txBody>
          <a:bodyPr>
            <a:noAutofit/>
          </a:bodyPr>
          <a:lstStyle/>
          <a:p>
            <a:r>
              <a:rPr lang="en-US" sz="4200" dirty="0">
                <a:latin typeface="Arial"/>
                <a:cs typeface="Arial"/>
              </a:rPr>
              <a:t>Additional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7F7B8-1404-BF4E-AAD5-121C9FFD2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3" y="2244436"/>
            <a:ext cx="11055927" cy="42443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Online courses, to </a:t>
            </a:r>
            <a:r>
              <a:rPr lang="en-US" b="1" dirty="0"/>
              <a:t>enhance your knowledge</a:t>
            </a:r>
            <a:r>
              <a:rPr lang="en-US" dirty="0"/>
              <a:t>. 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for Everyone (Py4e)</a:t>
            </a:r>
            <a:endParaRPr lang="en-US" dirty="0"/>
          </a:p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LearnPython.org</a:t>
            </a:r>
            <a:endParaRPr lang="en-US" dirty="0"/>
          </a:p>
          <a:p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W3schools</a:t>
            </a:r>
            <a:endParaRPr lang="en-US" dirty="0"/>
          </a:p>
          <a:p>
            <a:r>
              <a:rPr lang="en-US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Numeracy</a:t>
            </a:r>
            <a:r>
              <a:rPr lang="en-US"/>
              <a:t> tutorials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255FC-7A8A-DDFE-F20E-230E63434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54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9CD492-C586-0FFD-574B-81732DF29488}"/>
              </a:ext>
            </a:extLst>
          </p:cNvPr>
          <p:cNvSpPr txBox="1"/>
          <p:nvPr/>
        </p:nvSpPr>
        <p:spPr>
          <a:xfrm>
            <a:off x="555879" y="2274838"/>
            <a:ext cx="6010291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AU" sz="3600" dirty="0">
                <a:ea typeface="+mn-lt"/>
                <a:cs typeface="+mn-lt"/>
                <a:sym typeface="Cabin"/>
              </a:rPr>
              <a:t>A </a:t>
            </a:r>
            <a:r>
              <a:rPr lang="en-AU" sz="3600" b="1" dirty="0">
                <a:ea typeface="+mn-lt"/>
                <a:cs typeface="+mn-lt"/>
                <a:sym typeface="Cabin"/>
              </a:rPr>
              <a:t>Python dictionary</a:t>
            </a:r>
            <a:r>
              <a:rPr lang="en-AU" sz="3600" dirty="0">
                <a:ea typeface="+mn-lt"/>
                <a:cs typeface="+mn-lt"/>
                <a:sym typeface="Cabin"/>
              </a:rPr>
              <a:t> is a </a:t>
            </a:r>
          </a:p>
          <a:p>
            <a:r>
              <a:rPr lang="en-AU" sz="3600" dirty="0">
                <a:ea typeface="+mn-lt"/>
                <a:cs typeface="+mn-lt"/>
                <a:sym typeface="Cabin"/>
              </a:rPr>
              <a:t>built-in data type that allows you to store and manage data in key-value pairs. </a:t>
            </a:r>
            <a:endParaRPr lang="en-AU" sz="3600" dirty="0">
              <a:ea typeface="+mn-lt"/>
              <a:cs typeface="+mn-lt"/>
            </a:endParaRPr>
          </a:p>
        </p:txBody>
      </p:sp>
      <p:pic>
        <p:nvPicPr>
          <p:cNvPr id="3" name="Picture 2" descr="A cartoon of a snake&#10;&#10;Description automatically generated">
            <a:extLst>
              <a:ext uri="{FF2B5EF4-FFF2-40B4-BE49-F238E27FC236}">
                <a16:creationId xmlns:a16="http://schemas.microsoft.com/office/drawing/2014/main" id="{84EBB250-662B-9A96-D3B8-0BFE55FD2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300813" y="405268"/>
            <a:ext cx="7020334" cy="549297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5862EC4-66E2-BB8F-40F9-830E3EE40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a Python Dictionary?</a:t>
            </a:r>
          </a:p>
        </p:txBody>
      </p:sp>
    </p:spTree>
    <p:extLst>
      <p:ext uri="{BB962C8B-B14F-4D97-AF65-F5344CB8AC3E}">
        <p14:creationId xmlns:p14="http://schemas.microsoft.com/office/powerpoint/2010/main" val="57161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2DC6280E-86B9-97D9-1517-4963CE16B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B5207F2-60F4-A354-BF03-915DFC84F7EA}"/>
              </a:ext>
            </a:extLst>
          </p:cNvPr>
          <p:cNvSpPr txBox="1"/>
          <p:nvPr/>
        </p:nvSpPr>
        <p:spPr>
          <a:xfrm>
            <a:off x="575179" y="2115197"/>
            <a:ext cx="10189803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AU" sz="2800" b="1" dirty="0">
                <a:ea typeface="+mn-lt"/>
                <a:cs typeface="+mn-lt"/>
              </a:rPr>
              <a:t>List:</a:t>
            </a:r>
            <a:r>
              <a:rPr lang="en-AU" sz="2800" dirty="0">
                <a:ea typeface="+mn-lt"/>
                <a:cs typeface="+mn-lt"/>
              </a:rPr>
              <a:t> </a:t>
            </a:r>
            <a:endParaRPr lang="en-US" sz="2800" dirty="0"/>
          </a:p>
          <a:p>
            <a:pPr marL="457200" indent="-457200">
              <a:buFont typeface="Arial"/>
              <a:buChar char="•"/>
            </a:pPr>
            <a:r>
              <a:rPr lang="en-AU" sz="2800" dirty="0">
                <a:ea typeface="+mn-lt"/>
                <a:cs typeface="+mn-lt"/>
              </a:rPr>
              <a:t>A linear collection of values that </a:t>
            </a:r>
            <a:r>
              <a:rPr lang="en-AU" sz="2800" b="1" dirty="0">
                <a:ea typeface="+mn-lt"/>
                <a:cs typeface="+mn-lt"/>
              </a:rPr>
              <a:t>stay in order</a:t>
            </a:r>
            <a:endParaRPr lang="en-AU" sz="2800" b="1" dirty="0"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AU" sz="2800" dirty="0">
                <a:ea typeface="+mn-lt"/>
                <a:cs typeface="+mn-lt"/>
              </a:rPr>
              <a:t>best for ordered collections of items.</a:t>
            </a:r>
            <a:endParaRPr lang="en-AU" sz="2800" b="1" dirty="0">
              <a:ea typeface="+mn-lt"/>
              <a:cs typeface="+mn-lt"/>
            </a:endParaRPr>
          </a:p>
          <a:p>
            <a:endParaRPr lang="en-AU" sz="2800" dirty="0">
              <a:ea typeface="+mn-lt"/>
              <a:cs typeface="+mn-lt"/>
            </a:endParaRPr>
          </a:p>
          <a:p>
            <a:r>
              <a:rPr lang="en-AU" sz="2800" b="1" dirty="0">
                <a:ea typeface="+mn-lt"/>
                <a:cs typeface="+mn-lt"/>
              </a:rPr>
              <a:t>Dictionary:</a:t>
            </a:r>
            <a:r>
              <a:rPr lang="en-AU" sz="2800" dirty="0">
                <a:ea typeface="+mn-lt"/>
                <a:cs typeface="+mn-lt"/>
              </a:rPr>
              <a:t> </a:t>
            </a:r>
          </a:p>
          <a:p>
            <a:pPr marL="457200" indent="-457200">
              <a:buFont typeface="Arial"/>
              <a:buChar char="•"/>
            </a:pPr>
            <a:r>
              <a:rPr lang="en-AU" sz="2800" dirty="0">
                <a:ea typeface="+mn-lt"/>
                <a:cs typeface="+mn-lt"/>
              </a:rPr>
              <a:t>A "bag" of values, each with its own label.</a:t>
            </a:r>
            <a:endParaRPr lang="en-AU" sz="2800" dirty="0"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AU" sz="2800" dirty="0">
                <a:ea typeface="+mn-lt"/>
                <a:cs typeface="+mn-lt"/>
              </a:rPr>
              <a:t>best for collections of key-value pairs where </a:t>
            </a:r>
            <a:r>
              <a:rPr lang="en-AU" sz="2800" b="1" dirty="0">
                <a:ea typeface="+mn-lt"/>
                <a:cs typeface="+mn-lt"/>
              </a:rPr>
              <a:t>each key is unique </a:t>
            </a:r>
            <a:r>
              <a:rPr lang="en-AU" sz="2800" dirty="0">
                <a:ea typeface="+mn-lt"/>
                <a:cs typeface="+mn-lt"/>
              </a:rPr>
              <a:t>and used to access its corresponding value.</a:t>
            </a:r>
          </a:p>
          <a:p>
            <a:pPr marL="457200" indent="-457200">
              <a:buFont typeface="Arial"/>
              <a:buChar char="•"/>
            </a:pPr>
            <a:r>
              <a:rPr lang="en-AU" sz="2800" dirty="0">
                <a:ea typeface="+mn-lt"/>
                <a:cs typeface="+mn-lt"/>
              </a:rPr>
              <a:t>Depending on which version of Python you’re on (3.7+), dictionaries might also stay in order.</a:t>
            </a:r>
            <a:endParaRPr lang="en-AU" sz="2800" dirty="0">
              <a:cs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0B4FF1-D8D9-19F8-8EF6-4CC9A83D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Two Types of Collections</a:t>
            </a:r>
          </a:p>
        </p:txBody>
      </p:sp>
    </p:spTree>
    <p:extLst>
      <p:ext uri="{BB962C8B-B14F-4D97-AF65-F5344CB8AC3E}">
        <p14:creationId xmlns:p14="http://schemas.microsoft.com/office/powerpoint/2010/main" val="320390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385A96B4-325D-C0C8-13F9-D2A136F5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2413BF-4CD6-0E0A-F543-6FF8766517A5}"/>
              </a:ext>
            </a:extLst>
          </p:cNvPr>
          <p:cNvSpPr txBox="1"/>
          <p:nvPr/>
        </p:nvSpPr>
        <p:spPr>
          <a:xfrm>
            <a:off x="446315" y="2168529"/>
            <a:ext cx="10981281" cy="40318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AU" sz="3200" dirty="0">
                <a:ea typeface="+mn-lt"/>
                <a:cs typeface="+mn-lt"/>
              </a:rPr>
              <a:t>Ordered</a:t>
            </a:r>
            <a:endParaRPr lang="en-AU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AU" sz="3200" dirty="0">
                <a:ea typeface="+mn-lt"/>
                <a:cs typeface="+mn-lt"/>
              </a:rPr>
              <a:t>Indexed</a:t>
            </a:r>
            <a:endParaRPr lang="en-AU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AU" sz="3200" dirty="0">
                <a:ea typeface="+mn-lt"/>
                <a:cs typeface="+mn-lt"/>
              </a:rPr>
              <a:t>Mutable</a:t>
            </a:r>
          </a:p>
          <a:p>
            <a:pPr marL="285750" indent="-285750">
              <a:buFont typeface="Arial"/>
              <a:buChar char="•"/>
            </a:pPr>
            <a:r>
              <a:rPr lang="en-AU" sz="3200" dirty="0">
                <a:latin typeface="Arial"/>
                <a:ea typeface="+mn-lt"/>
                <a:cs typeface="Segoe UI"/>
              </a:rPr>
              <a:t>Lists can contain items of the same type </a:t>
            </a:r>
            <a:br>
              <a:rPr lang="en-AU" sz="3200" dirty="0">
                <a:latin typeface="Arial"/>
                <a:ea typeface="+mn-lt"/>
                <a:cs typeface="Segoe UI"/>
              </a:rPr>
            </a:br>
            <a:r>
              <a:rPr lang="en-AU" sz="3200" dirty="0">
                <a:latin typeface="Arial"/>
                <a:ea typeface="+mn-lt"/>
                <a:cs typeface="Segoe UI"/>
              </a:rPr>
              <a:t>or different types</a:t>
            </a:r>
            <a:endParaRPr lang="en-AU" sz="3200" dirty="0">
              <a:latin typeface="Arial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AU" sz="3200" b="1" dirty="0">
                <a:ea typeface="+mn-lt"/>
                <a:cs typeface="+mn-lt"/>
              </a:rPr>
              <a:t>Syntax: </a:t>
            </a:r>
            <a:r>
              <a:rPr lang="en-AU" sz="3200" dirty="0">
                <a:ea typeface="+mn-lt"/>
                <a:cs typeface="+mn-lt"/>
              </a:rPr>
              <a:t>Use square brackets </a:t>
            </a:r>
            <a:r>
              <a:rPr lang="en-AU" sz="3200" b="1" dirty="0">
                <a:latin typeface="Consolas"/>
                <a:ea typeface="+mn-lt"/>
                <a:cs typeface="Arial"/>
              </a:rPr>
              <a:t>[]</a:t>
            </a:r>
            <a:endParaRPr lang="en-AU" sz="3200" b="1" dirty="0">
              <a:cs typeface="Arial"/>
            </a:endParaRPr>
          </a:p>
          <a:p>
            <a:endParaRPr lang="en-AU" sz="3200" dirty="0">
              <a:cs typeface="Arial"/>
            </a:endParaRPr>
          </a:p>
          <a:p>
            <a:endParaRPr lang="en-AU" sz="3200" dirty="0">
              <a:cs typeface="Arial"/>
            </a:endParaRPr>
          </a:p>
        </p:txBody>
      </p:sp>
      <p:pic>
        <p:nvPicPr>
          <p:cNvPr id="3" name="Picture 2" descr="A cartoon snake with a black background&#10;&#10;Description automatically generated">
            <a:extLst>
              <a:ext uri="{FF2B5EF4-FFF2-40B4-BE49-F238E27FC236}">
                <a16:creationId xmlns:a16="http://schemas.microsoft.com/office/drawing/2014/main" id="{1970E207-B3A3-71E2-3B33-D71342280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178461" y="1571653"/>
            <a:ext cx="4114800" cy="609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E90DE43-DA85-9EA8-87A5-523CFA81E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List vs Dictionary</a:t>
            </a:r>
          </a:p>
        </p:txBody>
      </p:sp>
    </p:spTree>
    <p:extLst>
      <p:ext uri="{BB962C8B-B14F-4D97-AF65-F5344CB8AC3E}">
        <p14:creationId xmlns:p14="http://schemas.microsoft.com/office/powerpoint/2010/main" val="81000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5C236160-BA58-9754-B7E2-A104A4ACF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B2E90A-87E6-328F-21B8-6D9BBFBBC8D2}"/>
              </a:ext>
            </a:extLst>
          </p:cNvPr>
          <p:cNvSpPr txBox="1"/>
          <p:nvPr/>
        </p:nvSpPr>
        <p:spPr>
          <a:xfrm>
            <a:off x="446315" y="2246351"/>
            <a:ext cx="10992284" cy="40318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>
                <a:ea typeface="+mn-lt"/>
                <a:cs typeface="+mn-lt"/>
              </a:rPr>
              <a:t>Ordered (since Python version 3.7)</a:t>
            </a:r>
            <a:endParaRPr lang="en-AU" dirty="0">
              <a:ea typeface="+mn-lt"/>
              <a:cs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>
                <a:ea typeface="+mn-lt"/>
                <a:cs typeface="+mn-lt"/>
              </a:rPr>
              <a:t>Key-Value Pairs</a:t>
            </a:r>
            <a:endParaRPr lang="en-AU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>
                <a:ea typeface="+mn-lt"/>
                <a:cs typeface="+mn-lt"/>
              </a:rPr>
              <a:t>Each key in a dictionary </a:t>
            </a:r>
            <a:r>
              <a:rPr lang="en-AU" sz="3200" b="1" dirty="0">
                <a:ea typeface="+mn-lt"/>
                <a:cs typeface="+mn-lt"/>
              </a:rPr>
              <a:t>must be unique</a:t>
            </a:r>
            <a:endParaRPr lang="en-AU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>
                <a:ea typeface="+mn-lt"/>
                <a:cs typeface="+mn-lt"/>
              </a:rPr>
              <a:t>Mutable</a:t>
            </a:r>
            <a:endParaRPr lang="en-AU" dirty="0">
              <a:ea typeface="+mn-lt"/>
              <a:cs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>
                <a:ea typeface="+mn-lt"/>
                <a:cs typeface="+mn-lt"/>
              </a:rPr>
              <a:t>Keys and values can be of </a:t>
            </a:r>
            <a:r>
              <a:rPr lang="en-AU" sz="3200" b="1" dirty="0">
                <a:ea typeface="+mn-lt"/>
                <a:cs typeface="+mn-lt"/>
              </a:rPr>
              <a:t>different types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3200" dirty="0">
                <a:ea typeface="+mn-lt"/>
                <a:cs typeface="+mn-lt"/>
              </a:rPr>
              <a:t>Dictionaries are defined using curly braces </a:t>
            </a:r>
            <a:r>
              <a:rPr lang="en-AU" sz="3200" b="1" dirty="0">
                <a:ea typeface="+mn-lt"/>
                <a:cs typeface="+mn-lt"/>
              </a:rPr>
              <a:t>{ }</a:t>
            </a:r>
            <a:endParaRPr lang="en-AU" sz="3200" dirty="0"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3200" dirty="0">
              <a:cs typeface="Arial"/>
            </a:endParaRPr>
          </a:p>
          <a:p>
            <a:endParaRPr lang="en-AU" sz="3200" dirty="0">
              <a:cs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E59990-73D5-41F8-CCB5-EBB86B708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Dictionary vs List</a:t>
            </a:r>
          </a:p>
        </p:txBody>
      </p:sp>
    </p:spTree>
    <p:extLst>
      <p:ext uri="{BB962C8B-B14F-4D97-AF65-F5344CB8AC3E}">
        <p14:creationId xmlns:p14="http://schemas.microsoft.com/office/powerpoint/2010/main" val="3636428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73D56283-664B-EA9F-30AD-82A6A9B5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0F7D17-61D6-B226-28F7-1C491138DD47}"/>
              </a:ext>
            </a:extLst>
          </p:cNvPr>
          <p:cNvSpPr txBox="1"/>
          <p:nvPr/>
        </p:nvSpPr>
        <p:spPr>
          <a:xfrm>
            <a:off x="446315" y="2229647"/>
            <a:ext cx="10994063" cy="22320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AU" sz="3200" dirty="0">
                <a:ea typeface="+mn-lt"/>
                <a:cs typeface="+mn-lt"/>
                <a:sym typeface="Cabin"/>
              </a:rPr>
              <a:t>A key-value pair consists of </a:t>
            </a:r>
            <a:r>
              <a:rPr lang="en-AU" sz="3200" b="1" dirty="0">
                <a:ea typeface="+mn-lt"/>
                <a:cs typeface="+mn-lt"/>
                <a:sym typeface="Cabin"/>
              </a:rPr>
              <a:t>two elements</a:t>
            </a:r>
            <a:r>
              <a:rPr lang="en-AU" sz="3200" dirty="0">
                <a:ea typeface="+mn-lt"/>
                <a:cs typeface="+mn-lt"/>
                <a:sym typeface="Cabin"/>
              </a:rPr>
              <a:t>: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AU" sz="3200" dirty="0">
                <a:ea typeface="+mn-lt"/>
                <a:cs typeface="+mn-lt"/>
                <a:sym typeface="Cabin"/>
              </a:rPr>
              <a:t>A key, which is a unique identifier</a:t>
            </a:r>
            <a:r>
              <a:rPr lang="en-AU" sz="3200" dirty="0">
                <a:ea typeface="+mn-lt"/>
                <a:cs typeface="+mn-lt"/>
              </a:rPr>
              <a:t>, </a:t>
            </a:r>
            <a:r>
              <a:rPr lang="en-AU" sz="3200" dirty="0">
                <a:ea typeface="+mn-lt"/>
                <a:cs typeface="+mn-lt"/>
                <a:sym typeface="Cabin"/>
              </a:rPr>
              <a:t>and;</a:t>
            </a:r>
            <a:endParaRPr lang="en-US" sz="3200" dirty="0">
              <a:ea typeface="+mn-lt"/>
              <a:cs typeface="+mn-lt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AU" sz="3200" dirty="0">
                <a:ea typeface="+mn-lt"/>
                <a:cs typeface="+mn-lt"/>
                <a:sym typeface="Cabin"/>
              </a:rPr>
              <a:t>A value, the data associated with the key.</a:t>
            </a:r>
            <a:endParaRPr lang="en-US" sz="3200" dirty="0">
              <a:ea typeface="+mn-lt"/>
              <a:cs typeface="+mn-lt"/>
            </a:endParaRPr>
          </a:p>
        </p:txBody>
      </p:sp>
      <p:pic>
        <p:nvPicPr>
          <p:cNvPr id="4" name="Picture 3" descr="A cartoon snake with a black background&#10;&#10;Description automatically generated">
            <a:extLst>
              <a:ext uri="{FF2B5EF4-FFF2-40B4-BE49-F238E27FC236}">
                <a16:creationId xmlns:a16="http://schemas.microsoft.com/office/drawing/2014/main" id="{38AE9FA7-6A4B-B1C2-83B9-2FD07B343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7931285" y="1413668"/>
            <a:ext cx="4114800" cy="6096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6D465D9-ED33-5079-7F2F-DA835DDB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Keys and Value</a:t>
            </a:r>
          </a:p>
        </p:txBody>
      </p:sp>
    </p:spTree>
    <p:extLst>
      <p:ext uri="{BB962C8B-B14F-4D97-AF65-F5344CB8AC3E}">
        <p14:creationId xmlns:p14="http://schemas.microsoft.com/office/powerpoint/2010/main" val="373927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639B600B-8F0A-F12F-35DF-501EEF513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212BC1-7535-E5B7-9DED-EDAFFB9214C9}"/>
              </a:ext>
            </a:extLst>
          </p:cNvPr>
          <p:cNvSpPr txBox="1"/>
          <p:nvPr/>
        </p:nvSpPr>
        <p:spPr>
          <a:xfrm>
            <a:off x="446315" y="1959011"/>
            <a:ext cx="10319148" cy="46474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3200" dirty="0"/>
              <a:t>Keys must be </a:t>
            </a:r>
            <a:r>
              <a:rPr lang="en-GB" sz="3200" b="1" dirty="0"/>
              <a:t>immutable*</a:t>
            </a:r>
            <a:r>
              <a:rPr lang="en-GB" sz="3200" dirty="0"/>
              <a:t> types like: </a:t>
            </a:r>
            <a:endParaRPr lang="en-US" sz="3200" dirty="0">
              <a:cs typeface="Arial"/>
            </a:endParaRPr>
          </a:p>
          <a:p>
            <a:endParaRPr lang="en-GB" sz="3200" dirty="0"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GB" sz="3200" dirty="0"/>
              <a:t>strings</a:t>
            </a:r>
            <a:endParaRPr lang="en-GB" sz="3200" dirty="0"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GB" sz="3200" dirty="0"/>
              <a:t>numbers, or; </a:t>
            </a:r>
            <a:endParaRPr lang="en-GB" dirty="0"/>
          </a:p>
          <a:p>
            <a:pPr marL="457200" indent="-457200">
              <a:buFont typeface="Arial"/>
              <a:buChar char="•"/>
            </a:pPr>
            <a:r>
              <a:rPr lang="en-GB" sz="3200" dirty="0"/>
              <a:t>tuples </a:t>
            </a:r>
            <a:endParaRPr lang="en-GB" sz="3200" dirty="0">
              <a:cs typeface="Arial"/>
            </a:endParaRPr>
          </a:p>
          <a:p>
            <a:endParaRPr lang="en-GB" sz="3200" dirty="0">
              <a:cs typeface="Arial"/>
            </a:endParaRPr>
          </a:p>
          <a:p>
            <a:r>
              <a:rPr lang="en-GB" sz="3200" dirty="0"/>
              <a:t>Values can be of any data type.</a:t>
            </a:r>
            <a:endParaRPr lang="en-GB" sz="3200" dirty="0">
              <a:cs typeface="Arial"/>
            </a:endParaRPr>
          </a:p>
          <a:p>
            <a:endParaRPr lang="en-GB" sz="2400" b="1" dirty="0">
              <a:cs typeface="Arial"/>
            </a:endParaRPr>
          </a:p>
          <a:p>
            <a:r>
              <a:rPr lang="en-GB" sz="2400" dirty="0">
                <a:cs typeface="Arial"/>
              </a:rPr>
              <a:t>*: This isn’t remotely true. But things can get weird if you’re not careful with mutable types.</a:t>
            </a:r>
          </a:p>
        </p:txBody>
      </p:sp>
      <p:pic>
        <p:nvPicPr>
          <p:cNvPr id="7" name="Picture 6" descr="A cartoon of a snake&#10;&#10;Description automatically generated">
            <a:extLst>
              <a:ext uri="{FF2B5EF4-FFF2-40B4-BE49-F238E27FC236}">
                <a16:creationId xmlns:a16="http://schemas.microsoft.com/office/drawing/2014/main" id="{753720D8-05F6-AF71-7449-0B6F4B83F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171666" y="682513"/>
            <a:ext cx="7020334" cy="549297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7CE2326-5B40-303A-2219-336BD4EDE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Key-value Pairs</a:t>
            </a:r>
          </a:p>
        </p:txBody>
      </p:sp>
    </p:spTree>
    <p:extLst>
      <p:ext uri="{BB962C8B-B14F-4D97-AF65-F5344CB8AC3E}">
        <p14:creationId xmlns:p14="http://schemas.microsoft.com/office/powerpoint/2010/main" val="141765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01C0DBFF-2A58-7729-C49D-69FF5AA0E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2F88B3-AAA3-3960-87F9-2CDA2D7A8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789781"/>
              </p:ext>
            </p:extLst>
          </p:nvPr>
        </p:nvGraphicFramePr>
        <p:xfrm>
          <a:off x="592347" y="2096218"/>
          <a:ext cx="11007306" cy="4189547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335051">
                  <a:extLst>
                    <a:ext uri="{9D8B030D-6E8A-4147-A177-3AD203B41FA5}">
                      <a16:colId xmlns:a16="http://schemas.microsoft.com/office/drawing/2014/main" val="3620782138"/>
                    </a:ext>
                  </a:extLst>
                </a:gridCol>
                <a:gridCol w="6672255">
                  <a:extLst>
                    <a:ext uri="{9D8B030D-6E8A-4147-A177-3AD203B41FA5}">
                      <a16:colId xmlns:a16="http://schemas.microsoft.com/office/drawing/2014/main" val="2830698785"/>
                    </a:ext>
                  </a:extLst>
                </a:gridCol>
              </a:tblGrid>
              <a:tr h="5877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400" dirty="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058396"/>
                  </a:ext>
                </a:extLst>
              </a:tr>
              <a:tr h="149867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Create an empty dictionary</a:t>
                      </a:r>
                      <a:endParaRPr 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FF0000"/>
                          </a:solidFill>
                        </a:rPr>
                        <a:t>#dictionary_name = {} or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FF0000"/>
                          </a:solidFill>
                        </a:rPr>
                        <a:t>#dictionary_name = </a:t>
                      </a:r>
                      <a:r>
                        <a:rPr lang="en-GB" sz="2000" b="0" i="0" u="none" strike="noStrike" noProof="0" dirty="0" err="1">
                          <a:solidFill>
                            <a:srgbClr val="FF0000"/>
                          </a:solidFill>
                        </a:rPr>
                        <a:t>dict</a:t>
                      </a:r>
                      <a:r>
                        <a:rPr lang="en-GB" sz="2000" b="0" i="0" u="none" strike="noStrike" noProof="0" dirty="0">
                          <a:solidFill>
                            <a:srgbClr val="FF0000"/>
                          </a:solidFill>
                        </a:rPr>
                        <a:t>()</a:t>
                      </a:r>
                      <a:endParaRPr lang="en-GB" sz="2000" dirty="0">
                        <a:solidFill>
                          <a:srgbClr val="FF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</a:rPr>
                        <a:t>names = {} or</a:t>
                      </a:r>
                      <a:endParaRPr lang="en-GB" sz="200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</a:rPr>
                        <a:t>names = </a:t>
                      </a:r>
                      <a:r>
                        <a:rPr lang="en-GB" sz="2000" b="0" i="0" u="none" strike="noStrike" noProof="0" dirty="0" err="1">
                          <a:solidFill>
                            <a:srgbClr val="000000"/>
                          </a:solidFill>
                        </a:rPr>
                        <a:t>dict</a:t>
                      </a: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</a:rPr>
                        <a:t>()</a:t>
                      </a:r>
                      <a:endParaRPr lang="en-GB" sz="2000" b="0" i="0" u="none" strike="noStrike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96912"/>
                  </a:ext>
                </a:extLst>
              </a:tr>
              <a:tr h="69601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</a:rPr>
                        <a:t>Add a value pair</a:t>
                      </a:r>
                      <a:endParaRPr lang="en-US" sz="20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FF0000"/>
                          </a:solidFill>
                        </a:rPr>
                        <a:t>#dictionary_name[key] = value </a:t>
                      </a:r>
                      <a:endParaRPr lang="en-GB" sz="2000" b="0" i="0" u="none" strike="noStrike" noProof="0" dirty="0">
                        <a:solidFill>
                          <a:srgbClr val="FF0000"/>
                        </a:solidFill>
                        <a:latin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</a:rPr>
                        <a:t>names[name] = 1</a:t>
                      </a:r>
                      <a:endParaRPr lang="en-GB" sz="2000" b="0" i="0" u="none" strike="noStrike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747949"/>
                  </a:ext>
                </a:extLst>
              </a:tr>
              <a:tr h="69601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</a:rPr>
                        <a:t>Add one to an existing record</a:t>
                      </a:r>
                      <a:endParaRPr lang="en-US" sz="20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FF0000"/>
                          </a:solidFill>
                        </a:rPr>
                        <a:t>#dictionary_name[key] = </a:t>
                      </a:r>
                      <a:r>
                        <a:rPr lang="en-GB" sz="2000" b="0" i="0" u="none" strike="noStrike" noProof="0" dirty="0" err="1">
                          <a:solidFill>
                            <a:srgbClr val="FF0000"/>
                          </a:solidFill>
                        </a:rPr>
                        <a:t>dictionary_name</a:t>
                      </a:r>
                      <a:r>
                        <a:rPr lang="en-GB" sz="2000" b="0" i="0" u="none" strike="noStrike" noProof="0" dirty="0">
                          <a:solidFill>
                            <a:srgbClr val="FF0000"/>
                          </a:solidFill>
                        </a:rPr>
                        <a:t>[key] + 1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</a:rPr>
                        <a:t>names[name] = names[name] + 1</a:t>
                      </a:r>
                      <a:endParaRPr 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249071"/>
                  </a:ext>
                </a:extLst>
              </a:tr>
              <a:tr h="69601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</a:rPr>
                        <a:t>Print a dictionary</a:t>
                      </a:r>
                      <a:endParaRPr lang="en-US" sz="20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FF0000"/>
                          </a:solidFill>
                        </a:rPr>
                        <a:t>#print(dictionary_name)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 b="0" i="0" u="none" strike="noStrike" noProof="0" dirty="0">
                          <a:solidFill>
                            <a:srgbClr val="FF00FF"/>
                          </a:solidFill>
                        </a:rPr>
                        <a:t>print</a:t>
                      </a:r>
                      <a:r>
                        <a:rPr lang="en-GB" sz="2000" b="0" i="0" u="none" strike="noStrike" noProof="0" dirty="0">
                          <a:solidFill>
                            <a:srgbClr val="000000"/>
                          </a:solidFill>
                        </a:rPr>
                        <a:t>(names)</a:t>
                      </a:r>
                      <a:endParaRPr lang="en-US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75080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D1ECD2A-2537-8ED3-300F-D294A722B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Creating a Dictionary</a:t>
            </a:r>
          </a:p>
        </p:txBody>
      </p:sp>
    </p:spTree>
    <p:extLst>
      <p:ext uri="{BB962C8B-B14F-4D97-AF65-F5344CB8AC3E}">
        <p14:creationId xmlns:p14="http://schemas.microsoft.com/office/powerpoint/2010/main" val="2644135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58A8FC38-F3D0-76EE-E01D-B9D1F649C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E33ABD-0ADB-ECB5-E611-86295AB60D3B}"/>
              </a:ext>
            </a:extLst>
          </p:cNvPr>
          <p:cNvSpPr txBox="1"/>
          <p:nvPr/>
        </p:nvSpPr>
        <p:spPr>
          <a:xfrm>
            <a:off x="153358" y="1916483"/>
            <a:ext cx="11449170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67715" indent="-457200">
              <a:buFont typeface="+mj-lt"/>
              <a:buAutoNum type="arabicPeriod"/>
            </a:pPr>
            <a:r>
              <a:rPr lang="en-US" sz="2200" dirty="0">
                <a:cs typeface="Arial"/>
              </a:rPr>
              <a:t>Create a Dictionary: names = {} </a:t>
            </a:r>
          </a:p>
          <a:p>
            <a:pPr marL="767715" indent="-457200">
              <a:buAutoNum type="arabicPeriod"/>
            </a:pPr>
            <a:r>
              <a:rPr lang="en-US" sz="2200" dirty="0">
                <a:cs typeface="Arial"/>
              </a:rPr>
              <a:t>Enter names until only enter is pressed.</a:t>
            </a:r>
          </a:p>
          <a:p>
            <a:pPr marL="767715" indent="-457200">
              <a:buAutoNum type="arabicPeriod"/>
            </a:pPr>
            <a:r>
              <a:rPr lang="en-US" sz="2200" dirty="0">
                <a:cs typeface="Arial"/>
              </a:rPr>
              <a:t>If name exists, the value will be plus one, else create a new record and the value is 1. </a:t>
            </a:r>
            <a:br>
              <a:rPr lang="en-US" sz="2200" dirty="0">
                <a:cs typeface="Arial"/>
              </a:rPr>
            </a:br>
            <a:r>
              <a:rPr lang="en-US" sz="2200" b="1" dirty="0">
                <a:cs typeface="Arial"/>
              </a:rPr>
              <a:t>Tip: </a:t>
            </a:r>
            <a:r>
              <a:rPr lang="en-US" sz="2200" dirty="0">
                <a:cs typeface="Arial"/>
              </a:rPr>
              <a:t>to know if it exists - if name in names</a:t>
            </a:r>
          </a:p>
          <a:p>
            <a:pPr marL="767715" indent="-457200">
              <a:buFont typeface="+mj-lt"/>
              <a:buAutoNum type="arabicPeriod"/>
            </a:pPr>
            <a:r>
              <a:rPr lang="en-US" sz="2200" dirty="0">
                <a:cs typeface="Arial"/>
              </a:rPr>
              <a:t>Print the dictionary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E5345A1-80A2-FC6B-7C74-2863143BD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16" y="3891763"/>
            <a:ext cx="5253487" cy="251798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7324C52-3C14-A154-2B9C-C6C872DD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Creating a Dictionary</a:t>
            </a:r>
          </a:p>
        </p:txBody>
      </p:sp>
    </p:spTree>
    <p:extLst>
      <p:ext uri="{BB962C8B-B14F-4D97-AF65-F5344CB8AC3E}">
        <p14:creationId xmlns:p14="http://schemas.microsoft.com/office/powerpoint/2010/main" val="3694190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E8A804F1-297E-E169-074E-F6A61B6F0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F32C0B5-6EB5-7B7A-5AB7-6CA95421B4F8}"/>
              </a:ext>
            </a:extLst>
          </p:cNvPr>
          <p:cNvSpPr txBox="1"/>
          <p:nvPr/>
        </p:nvSpPr>
        <p:spPr>
          <a:xfrm>
            <a:off x="463566" y="1881583"/>
            <a:ext cx="11240371" cy="447814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AU" sz="3000" b="1" dirty="0">
                <a:ea typeface="+mn-lt"/>
                <a:cs typeface="+mn-lt"/>
              </a:rPr>
              <a:t>Values </a:t>
            </a:r>
            <a:r>
              <a:rPr lang="en-AU" sz="3000" dirty="0">
                <a:ea typeface="+mn-lt"/>
                <a:cs typeface="+mn-lt"/>
              </a:rPr>
              <a:t>can be accessed by...</a:t>
            </a:r>
          </a:p>
          <a:p>
            <a:r>
              <a:rPr lang="en-AU" sz="3000" dirty="0">
                <a:ea typeface="+mn-lt"/>
                <a:cs typeface="+mn-lt"/>
              </a:rPr>
              <a:t>1. Using </a:t>
            </a:r>
            <a:r>
              <a:rPr lang="en-AU" sz="3000" b="1" dirty="0">
                <a:ea typeface="+mn-lt"/>
                <a:cs typeface="+mn-lt"/>
              </a:rPr>
              <a:t>keys</a:t>
            </a:r>
            <a:r>
              <a:rPr lang="en-AU" sz="3000" dirty="0">
                <a:ea typeface="+mn-lt"/>
                <a:cs typeface="+mn-lt"/>
              </a:rPr>
              <a:t>: </a:t>
            </a:r>
            <a:br>
              <a:rPr lang="en-AU" sz="3000" dirty="0">
                <a:ea typeface="+mn-lt"/>
                <a:cs typeface="+mn-lt"/>
              </a:rPr>
            </a:br>
            <a:br>
              <a:rPr lang="en-AU" sz="3000" dirty="0">
                <a:ea typeface="+mn-lt"/>
                <a:cs typeface="+mn-lt"/>
              </a:rPr>
            </a:br>
            <a:r>
              <a:rPr lang="en-AU" sz="3000" b="1" dirty="0">
                <a:ea typeface="+mn-lt"/>
                <a:cs typeface="+mn-lt"/>
              </a:rPr>
              <a:t>Example: </a:t>
            </a:r>
            <a:br>
              <a:rPr lang="en-AU" sz="3000" dirty="0">
                <a:ea typeface="+mn-lt"/>
                <a:cs typeface="+mn-lt"/>
              </a:rPr>
            </a:br>
            <a:r>
              <a:rPr lang="en-AU" sz="3000" dirty="0">
                <a:ea typeface="+mn-lt"/>
                <a:cs typeface="+mn-lt"/>
              </a:rPr>
              <a:t>student = {</a:t>
            </a:r>
            <a:r>
              <a:rPr lang="en-AU" sz="3000" dirty="0">
                <a:solidFill>
                  <a:srgbClr val="00B050"/>
                </a:solidFill>
                <a:ea typeface="+mn-lt"/>
                <a:cs typeface="+mn-lt"/>
              </a:rPr>
              <a:t>"name"</a:t>
            </a:r>
            <a:r>
              <a:rPr lang="en-AU" sz="3000" dirty="0">
                <a:ea typeface="+mn-lt"/>
                <a:cs typeface="+mn-lt"/>
              </a:rPr>
              <a:t>: </a:t>
            </a:r>
            <a:r>
              <a:rPr lang="en-AU" sz="3000" dirty="0">
                <a:solidFill>
                  <a:srgbClr val="00B050"/>
                </a:solidFill>
                <a:ea typeface="+mn-lt"/>
                <a:cs typeface="+mn-lt"/>
              </a:rPr>
              <a:t>"Olivia"</a:t>
            </a:r>
            <a:r>
              <a:rPr lang="en-AU" sz="3000" dirty="0">
                <a:ea typeface="+mn-lt"/>
                <a:cs typeface="+mn-lt"/>
              </a:rPr>
              <a:t>, </a:t>
            </a:r>
            <a:r>
              <a:rPr lang="en-AU" sz="3000" dirty="0">
                <a:solidFill>
                  <a:srgbClr val="00B050"/>
                </a:solidFill>
                <a:ea typeface="+mn-lt"/>
                <a:cs typeface="+mn-lt"/>
              </a:rPr>
              <a:t>"age"</a:t>
            </a:r>
            <a:r>
              <a:rPr lang="en-AU" sz="3000" dirty="0">
                <a:ea typeface="+mn-lt"/>
                <a:cs typeface="+mn-lt"/>
              </a:rPr>
              <a:t>: 21, </a:t>
            </a:r>
            <a:r>
              <a:rPr lang="en-AU" sz="3000" dirty="0">
                <a:solidFill>
                  <a:srgbClr val="00B050"/>
                </a:solidFill>
                <a:ea typeface="+mn-lt"/>
                <a:cs typeface="+mn-lt"/>
              </a:rPr>
              <a:t>"Unit"</a:t>
            </a:r>
            <a:r>
              <a:rPr lang="en-AU" sz="3000" dirty="0">
                <a:ea typeface="+mn-lt"/>
                <a:cs typeface="+mn-lt"/>
              </a:rPr>
              <a:t>: </a:t>
            </a:r>
            <a:r>
              <a:rPr lang="en-AU" sz="3000" dirty="0">
                <a:solidFill>
                  <a:srgbClr val="00B050"/>
                </a:solidFill>
                <a:ea typeface="+mn-lt"/>
                <a:cs typeface="+mn-lt"/>
              </a:rPr>
              <a:t>"Python"</a:t>
            </a:r>
            <a:r>
              <a:rPr lang="en-AU" sz="3000" dirty="0">
                <a:ea typeface="+mn-lt"/>
                <a:cs typeface="+mn-lt"/>
              </a:rPr>
              <a:t>}
name = student[</a:t>
            </a:r>
            <a:r>
              <a:rPr lang="en-AU" sz="3000" dirty="0">
                <a:solidFill>
                  <a:srgbClr val="00B050"/>
                </a:solidFill>
                <a:ea typeface="+mn-lt"/>
                <a:cs typeface="+mn-lt"/>
              </a:rPr>
              <a:t>"name"</a:t>
            </a:r>
            <a:r>
              <a:rPr lang="en-AU" sz="3000" dirty="0">
                <a:ea typeface="+mn-lt"/>
                <a:cs typeface="+mn-lt"/>
              </a:rPr>
              <a:t>]
</a:t>
            </a:r>
            <a:r>
              <a:rPr lang="en-AU" sz="3000" dirty="0">
                <a:solidFill>
                  <a:srgbClr val="F238D3"/>
                </a:solidFill>
                <a:ea typeface="+mn-lt"/>
                <a:cs typeface="+mn-lt"/>
              </a:rPr>
              <a:t>print</a:t>
            </a:r>
            <a:r>
              <a:rPr lang="en-AU" sz="3000" dirty="0">
                <a:ea typeface="+mn-lt"/>
                <a:cs typeface="+mn-lt"/>
              </a:rPr>
              <a:t>(name)  </a:t>
            </a:r>
            <a:br>
              <a:rPr lang="en-AU" sz="3000" dirty="0">
                <a:ea typeface="+mn-lt"/>
                <a:cs typeface="+mn-lt"/>
              </a:rPr>
            </a:br>
            <a:endParaRPr lang="en-AU" sz="3000" dirty="0">
              <a:ea typeface="+mn-lt"/>
              <a:cs typeface="+mn-lt"/>
            </a:endParaRPr>
          </a:p>
          <a:p>
            <a:r>
              <a:rPr lang="en-AU" sz="3000" dirty="0">
                <a:solidFill>
                  <a:srgbClr val="0070C0"/>
                </a:solidFill>
                <a:ea typeface="+mn-lt"/>
                <a:cs typeface="+mn-lt"/>
              </a:rPr>
              <a:t>Olivia</a:t>
            </a:r>
            <a:r>
              <a:rPr lang="en-AU" sz="3000" dirty="0">
                <a:ea typeface="+mn-lt"/>
                <a:cs typeface="+mn-lt"/>
              </a:rPr>
              <a:t> </a:t>
            </a:r>
            <a:r>
              <a:rPr lang="en-AU" sz="3000" dirty="0">
                <a:solidFill>
                  <a:srgbClr val="FF0000"/>
                </a:solidFill>
                <a:ea typeface="+mn-lt"/>
                <a:cs typeface="+mn-lt"/>
              </a:rPr>
              <a:t># Output</a:t>
            </a:r>
            <a:endParaRPr lang="en-AU" sz="3000" dirty="0">
              <a:solidFill>
                <a:srgbClr val="FF0000"/>
              </a:solidFill>
              <a:cs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C32A17-B755-D89C-2BCA-26F45600A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Accessing Values</a:t>
            </a:r>
          </a:p>
        </p:txBody>
      </p:sp>
    </p:spTree>
    <p:extLst>
      <p:ext uri="{BB962C8B-B14F-4D97-AF65-F5344CB8AC3E}">
        <p14:creationId xmlns:p14="http://schemas.microsoft.com/office/powerpoint/2010/main" val="321758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7BDEA275-8B93-00EF-4287-D2DBBC9CF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55D2D4-5A5C-D2EA-481D-85C2755B9E9F}"/>
              </a:ext>
            </a:extLst>
          </p:cNvPr>
          <p:cNvSpPr txBox="1"/>
          <p:nvPr/>
        </p:nvSpPr>
        <p:spPr>
          <a:xfrm>
            <a:off x="446315" y="1973672"/>
            <a:ext cx="10964600" cy="47089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AU" sz="3000" dirty="0">
                <a:latin typeface="+mj-lt"/>
                <a:ea typeface="+mn-lt"/>
                <a:cs typeface="+mn-lt"/>
              </a:rPr>
              <a:t>2. Using the </a:t>
            </a:r>
            <a:r>
              <a:rPr lang="en-AU" sz="3000" b="1" dirty="0">
                <a:latin typeface="+mj-lt"/>
                <a:ea typeface="+mn-lt"/>
                <a:cs typeface="+mn-lt"/>
              </a:rPr>
              <a:t>get()</a:t>
            </a:r>
            <a:r>
              <a:rPr lang="en-AU" sz="3000" dirty="0">
                <a:latin typeface="+mj-lt"/>
                <a:ea typeface="+mn-lt"/>
                <a:cs typeface="+mn-lt"/>
              </a:rPr>
              <a:t> method: </a:t>
            </a:r>
            <a:br>
              <a:rPr lang="en-AU" sz="3000" dirty="0">
                <a:latin typeface="+mj-lt"/>
                <a:ea typeface="+mn-lt"/>
                <a:cs typeface="+mn-lt"/>
              </a:rPr>
            </a:br>
            <a:br>
              <a:rPr lang="en-AU" sz="3000" dirty="0">
                <a:latin typeface="+mj-lt"/>
                <a:ea typeface="+mn-lt"/>
                <a:cs typeface="+mn-lt"/>
              </a:rPr>
            </a:br>
            <a:r>
              <a:rPr lang="en-AU" sz="3000" b="1" dirty="0">
                <a:latin typeface="+mj-lt"/>
                <a:ea typeface="+mn-lt"/>
                <a:cs typeface="+mn-lt"/>
              </a:rPr>
              <a:t>Example: </a:t>
            </a:r>
          </a:p>
          <a:p>
            <a:r>
              <a:rPr lang="en-AU" sz="3000" dirty="0">
                <a:latin typeface="+mj-lt"/>
                <a:ea typeface="+mn-lt"/>
                <a:cs typeface="+mn-lt"/>
              </a:rPr>
              <a:t>student = {</a:t>
            </a:r>
            <a:r>
              <a:rPr lang="en-AU" sz="3000" dirty="0">
                <a:solidFill>
                  <a:srgbClr val="00B050"/>
                </a:solidFill>
                <a:latin typeface="+mj-lt"/>
                <a:ea typeface="+mn-lt"/>
                <a:cs typeface="+mn-lt"/>
              </a:rPr>
              <a:t>"name"</a:t>
            </a:r>
            <a:r>
              <a:rPr lang="en-AU" sz="3000" dirty="0">
                <a:latin typeface="+mj-lt"/>
                <a:ea typeface="+mn-lt"/>
                <a:cs typeface="+mn-lt"/>
              </a:rPr>
              <a:t>: </a:t>
            </a:r>
            <a:r>
              <a:rPr lang="en-AU" sz="3000" dirty="0">
                <a:solidFill>
                  <a:srgbClr val="00B050"/>
                </a:solidFill>
                <a:latin typeface="+mj-lt"/>
                <a:ea typeface="+mn-lt"/>
                <a:cs typeface="+mn-lt"/>
              </a:rPr>
              <a:t>"Olivia"</a:t>
            </a:r>
            <a:r>
              <a:rPr lang="en-AU" sz="3000" dirty="0">
                <a:latin typeface="+mj-lt"/>
                <a:ea typeface="+mn-lt"/>
                <a:cs typeface="+mn-lt"/>
              </a:rPr>
              <a:t>, </a:t>
            </a:r>
            <a:r>
              <a:rPr lang="en-AU" sz="3000" dirty="0">
                <a:solidFill>
                  <a:srgbClr val="00B050"/>
                </a:solidFill>
                <a:latin typeface="+mj-lt"/>
                <a:ea typeface="+mn-lt"/>
                <a:cs typeface="+mn-lt"/>
              </a:rPr>
              <a:t>"age"</a:t>
            </a:r>
            <a:r>
              <a:rPr lang="en-AU" sz="3000" dirty="0">
                <a:latin typeface="+mj-lt"/>
                <a:ea typeface="+mn-lt"/>
                <a:cs typeface="+mn-lt"/>
              </a:rPr>
              <a:t>: 21, </a:t>
            </a:r>
            <a:r>
              <a:rPr lang="en-AU" sz="3000" dirty="0">
                <a:solidFill>
                  <a:srgbClr val="00B050"/>
                </a:solidFill>
                <a:latin typeface="+mj-lt"/>
                <a:ea typeface="+mn-lt"/>
                <a:cs typeface="+mn-lt"/>
              </a:rPr>
              <a:t>"Unit"</a:t>
            </a:r>
            <a:r>
              <a:rPr lang="en-AU" sz="3000" dirty="0">
                <a:latin typeface="+mj-lt"/>
                <a:ea typeface="+mn-lt"/>
                <a:cs typeface="+mn-lt"/>
              </a:rPr>
              <a:t>: </a:t>
            </a:r>
            <a:r>
              <a:rPr lang="en-AU" sz="3000" dirty="0">
                <a:solidFill>
                  <a:srgbClr val="00B050"/>
                </a:solidFill>
                <a:latin typeface="+mj-lt"/>
                <a:ea typeface="+mn-lt"/>
                <a:cs typeface="+mn-lt"/>
              </a:rPr>
              <a:t>"Python"</a:t>
            </a:r>
            <a:r>
              <a:rPr lang="en-AU" sz="3000" dirty="0">
                <a:latin typeface="+mj-lt"/>
                <a:ea typeface="+mn-lt"/>
                <a:cs typeface="+mn-lt"/>
              </a:rPr>
              <a:t>}</a:t>
            </a:r>
            <a:br>
              <a:rPr lang="en-AU" sz="3000" dirty="0">
                <a:latin typeface="+mj-lt"/>
                <a:ea typeface="+mn-lt"/>
                <a:cs typeface="+mn-lt"/>
              </a:rPr>
            </a:br>
            <a:r>
              <a:rPr lang="en-AU" sz="3000" dirty="0">
                <a:latin typeface="+mj-lt"/>
                <a:ea typeface="+mn-lt"/>
                <a:cs typeface="+mn-lt"/>
              </a:rPr>
              <a:t>age = </a:t>
            </a:r>
            <a:r>
              <a:rPr lang="en-AU" sz="3000" dirty="0" err="1">
                <a:latin typeface="+mj-lt"/>
                <a:ea typeface="+mn-lt"/>
                <a:cs typeface="+mn-lt"/>
              </a:rPr>
              <a:t>student.get</a:t>
            </a:r>
            <a:r>
              <a:rPr lang="en-AU" sz="3000" dirty="0">
                <a:latin typeface="+mj-lt"/>
                <a:ea typeface="+mn-lt"/>
                <a:cs typeface="+mn-lt"/>
              </a:rPr>
              <a:t>(</a:t>
            </a:r>
            <a:r>
              <a:rPr lang="en-AU" sz="3000" dirty="0">
                <a:solidFill>
                  <a:srgbClr val="00B050"/>
                </a:solidFill>
                <a:latin typeface="+mj-lt"/>
                <a:ea typeface="+mn-lt"/>
                <a:cs typeface="+mn-lt"/>
              </a:rPr>
              <a:t>"age"</a:t>
            </a:r>
            <a:r>
              <a:rPr lang="en-AU" sz="3000" dirty="0">
                <a:latin typeface="+mj-lt"/>
                <a:ea typeface="+mn-lt"/>
                <a:cs typeface="+mn-lt"/>
              </a:rPr>
              <a:t>)
</a:t>
            </a:r>
            <a:r>
              <a:rPr lang="en-AU" sz="3000" dirty="0">
                <a:solidFill>
                  <a:srgbClr val="F238D3"/>
                </a:solidFill>
                <a:latin typeface="+mj-lt"/>
                <a:ea typeface="+mn-lt"/>
                <a:cs typeface="+mn-lt"/>
              </a:rPr>
              <a:t>print</a:t>
            </a:r>
            <a:r>
              <a:rPr lang="en-AU" sz="3000" dirty="0">
                <a:latin typeface="+mj-lt"/>
                <a:ea typeface="+mn-lt"/>
                <a:cs typeface="+mn-lt"/>
              </a:rPr>
              <a:t>(age)  </a:t>
            </a:r>
            <a:br>
              <a:rPr lang="en-AU" sz="3000" dirty="0">
                <a:latin typeface="+mj-lt"/>
                <a:ea typeface="+mn-lt"/>
                <a:cs typeface="+mn-lt"/>
              </a:rPr>
            </a:br>
            <a:r>
              <a:rPr lang="en-AU" sz="3000" dirty="0">
                <a:solidFill>
                  <a:srgbClr val="0070C0"/>
                </a:solidFill>
                <a:latin typeface="+mj-lt"/>
                <a:ea typeface="+mn-lt"/>
                <a:cs typeface="+mn-lt"/>
              </a:rPr>
              <a:t>21</a:t>
            </a:r>
            <a:r>
              <a:rPr lang="en-AU" sz="3000" dirty="0">
                <a:latin typeface="+mj-lt"/>
                <a:ea typeface="+mn-lt"/>
                <a:cs typeface="+mn-lt"/>
              </a:rPr>
              <a:t> </a:t>
            </a:r>
            <a:r>
              <a:rPr lang="en-AU" sz="3000" dirty="0">
                <a:solidFill>
                  <a:srgbClr val="FF0000"/>
                </a:solidFill>
                <a:latin typeface="+mj-lt"/>
                <a:ea typeface="+mn-lt"/>
                <a:cs typeface="+mn-lt"/>
              </a:rPr>
              <a:t># Output</a:t>
            </a:r>
            <a:r>
              <a:rPr lang="en-AU" sz="3000" dirty="0">
                <a:latin typeface="+mj-lt"/>
                <a:ea typeface="+mn-lt"/>
                <a:cs typeface="+mn-lt"/>
              </a:rPr>
              <a:t>
grade = </a:t>
            </a:r>
            <a:r>
              <a:rPr lang="en-AU" sz="3000" dirty="0" err="1">
                <a:latin typeface="+mj-lt"/>
                <a:ea typeface="+mn-lt"/>
                <a:cs typeface="+mn-lt"/>
              </a:rPr>
              <a:t>student.get</a:t>
            </a:r>
            <a:r>
              <a:rPr lang="en-AU" sz="3000" dirty="0">
                <a:latin typeface="+mj-lt"/>
                <a:ea typeface="+mn-lt"/>
                <a:cs typeface="+mn-lt"/>
              </a:rPr>
              <a:t>(</a:t>
            </a:r>
            <a:r>
              <a:rPr lang="en-AU" sz="3000" dirty="0">
                <a:solidFill>
                  <a:srgbClr val="00B050"/>
                </a:solidFill>
                <a:latin typeface="+mj-lt"/>
                <a:ea typeface="+mn-lt"/>
                <a:cs typeface="+mn-lt"/>
              </a:rPr>
              <a:t>"grade"</a:t>
            </a:r>
            <a:r>
              <a:rPr lang="en-AU" sz="3000" dirty="0">
                <a:latin typeface="+mj-lt"/>
                <a:ea typeface="+mn-lt"/>
                <a:cs typeface="+mn-lt"/>
              </a:rPr>
              <a:t>)
</a:t>
            </a:r>
            <a:r>
              <a:rPr lang="en-AU" sz="3000" dirty="0">
                <a:solidFill>
                  <a:srgbClr val="F238D3"/>
                </a:solidFill>
                <a:latin typeface="+mj-lt"/>
                <a:ea typeface="+mn-lt"/>
                <a:cs typeface="+mn-lt"/>
              </a:rPr>
              <a:t>print</a:t>
            </a:r>
            <a:r>
              <a:rPr lang="en-AU" sz="3000" dirty="0">
                <a:latin typeface="+mj-lt"/>
                <a:ea typeface="+mn-lt"/>
                <a:cs typeface="+mn-lt"/>
              </a:rPr>
              <a:t>(grade)  </a:t>
            </a:r>
          </a:p>
          <a:p>
            <a:r>
              <a:rPr lang="en-AU" sz="3000" dirty="0">
                <a:solidFill>
                  <a:srgbClr val="0070C0"/>
                </a:solidFill>
                <a:latin typeface="+mj-lt"/>
                <a:ea typeface="+mn-lt"/>
                <a:cs typeface="+mn-lt"/>
              </a:rPr>
              <a:t>None</a:t>
            </a:r>
            <a:r>
              <a:rPr lang="en-AU" sz="3000" dirty="0">
                <a:latin typeface="+mj-lt"/>
                <a:ea typeface="+mn-lt"/>
                <a:cs typeface="+mn-lt"/>
              </a:rPr>
              <a:t> </a:t>
            </a:r>
            <a:r>
              <a:rPr lang="en-AU" sz="3000" dirty="0">
                <a:solidFill>
                  <a:srgbClr val="FF0000"/>
                </a:solidFill>
                <a:latin typeface="+mj-lt"/>
                <a:ea typeface="+mn-lt"/>
                <a:cs typeface="+mn-lt"/>
              </a:rPr>
              <a:t># Output</a:t>
            </a:r>
            <a:endParaRPr lang="en-AU" sz="3000" dirty="0">
              <a:solidFill>
                <a:srgbClr val="FF0000"/>
              </a:solidFill>
              <a:latin typeface="+mj-lt"/>
              <a:cs typeface="Arial"/>
            </a:endParaRPr>
          </a:p>
        </p:txBody>
      </p:sp>
      <p:pic>
        <p:nvPicPr>
          <p:cNvPr id="3" name="Picture 2" descr="A cartoon snake with a black background&#10;&#10;Description automatically generated">
            <a:extLst>
              <a:ext uri="{FF2B5EF4-FFF2-40B4-BE49-F238E27FC236}">
                <a16:creationId xmlns:a16="http://schemas.microsoft.com/office/drawing/2014/main" id="{BCF66C1B-FC97-78A1-8C32-3462DF829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728934" y="1161230"/>
            <a:ext cx="4114800" cy="609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68D474F-F6D7-9E16-0BA3-E5AF8D6BE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Accessing Values</a:t>
            </a:r>
          </a:p>
        </p:txBody>
      </p:sp>
    </p:spTree>
    <p:extLst>
      <p:ext uri="{BB962C8B-B14F-4D97-AF65-F5344CB8AC3E}">
        <p14:creationId xmlns:p14="http://schemas.microsoft.com/office/powerpoint/2010/main" val="167922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BA42C14B-57EC-5F6F-2F35-7586DA04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EE9D91-C705-0428-8B0B-98AB8A6DF063}"/>
              </a:ext>
            </a:extLst>
          </p:cNvPr>
          <p:cNvSpPr txBox="1"/>
          <p:nvPr/>
        </p:nvSpPr>
        <p:spPr>
          <a:xfrm>
            <a:off x="475814" y="2094117"/>
            <a:ext cx="11240371" cy="42017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AU" sz="3200" dirty="0">
                <a:ea typeface="+mn-lt"/>
                <a:cs typeface="+mn-lt"/>
              </a:rPr>
              <a:t>Avoid a </a:t>
            </a:r>
            <a:r>
              <a:rPr lang="en-AU" sz="3200" b="1" dirty="0" err="1">
                <a:ea typeface="+mn-lt"/>
                <a:cs typeface="+mn-lt"/>
              </a:rPr>
              <a:t>KeyError</a:t>
            </a:r>
            <a:r>
              <a:rPr lang="en-AU" sz="3200" dirty="0">
                <a:ea typeface="+mn-lt"/>
                <a:cs typeface="+mn-lt"/>
              </a:rPr>
              <a:t> by using the </a:t>
            </a:r>
            <a:r>
              <a:rPr lang="en-AU" sz="3200" b="1" dirty="0">
                <a:ea typeface="+mn-lt"/>
                <a:cs typeface="+mn-lt"/>
              </a:rPr>
              <a:t>get() </a:t>
            </a:r>
            <a:r>
              <a:rPr lang="en-AU" sz="3200" dirty="0">
                <a:ea typeface="+mn-lt"/>
                <a:cs typeface="+mn-lt"/>
              </a:rPr>
              <a:t>method.</a:t>
            </a:r>
          </a:p>
          <a:p>
            <a:pPr>
              <a:lnSpc>
                <a:spcPct val="150000"/>
              </a:lnSpc>
            </a:pPr>
            <a:r>
              <a:rPr lang="en-AU" sz="3200" dirty="0">
                <a:ea typeface="+mn-lt"/>
                <a:cs typeface="+mn-lt"/>
              </a:rPr>
              <a:t>The </a:t>
            </a:r>
            <a:r>
              <a:rPr lang="en-AU" sz="3200" b="1" dirty="0">
                <a:ea typeface="+mn-lt"/>
                <a:cs typeface="+mn-lt"/>
              </a:rPr>
              <a:t>get </a:t>
            </a:r>
            <a:r>
              <a:rPr lang="en-AU" sz="3200" dirty="0">
                <a:ea typeface="+mn-lt"/>
                <a:cs typeface="+mn-lt"/>
              </a:rPr>
              <a:t>method:</a:t>
            </a:r>
            <a:endParaRPr lang="en-US" sz="3200" dirty="0"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Courier New"/>
              <a:buChar char="o"/>
            </a:pPr>
            <a:r>
              <a:rPr lang="en-AU" sz="3200" dirty="0">
                <a:ea typeface="+mn-lt"/>
                <a:cs typeface="+mn-lt"/>
              </a:rPr>
              <a:t>checks if a </a:t>
            </a:r>
            <a:r>
              <a:rPr lang="en-AU" sz="3200" i="1" dirty="0">
                <a:ea typeface="+mn-lt"/>
                <a:cs typeface="+mn-lt"/>
              </a:rPr>
              <a:t>key </a:t>
            </a:r>
            <a:r>
              <a:rPr lang="en-AU" sz="3200" dirty="0">
                <a:ea typeface="+mn-lt"/>
                <a:cs typeface="+mn-lt"/>
              </a:rPr>
              <a:t>is in a dictionary</a:t>
            </a:r>
            <a:endParaRPr lang="en-AU" sz="3200" dirty="0"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Courier New"/>
              <a:buChar char="o"/>
            </a:pPr>
            <a:r>
              <a:rPr lang="en-AU" sz="3200" dirty="0">
                <a:ea typeface="+mn-lt"/>
                <a:cs typeface="+mn-lt"/>
              </a:rPr>
              <a:t>it assumes a default value if the key is not there</a:t>
            </a:r>
            <a:endParaRPr lang="en-AU" sz="3200" dirty="0"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Courier New"/>
              <a:buChar char="o"/>
            </a:pPr>
            <a:r>
              <a:rPr lang="en-AU" sz="3200" dirty="0" err="1">
                <a:ea typeface="+mn-lt"/>
                <a:cs typeface="+mn-lt"/>
              </a:rPr>
              <a:t>dictionary_name.get</a:t>
            </a:r>
            <a:r>
              <a:rPr lang="en-AU" sz="3200" dirty="0">
                <a:ea typeface="+mn-lt"/>
                <a:cs typeface="+mn-lt"/>
              </a:rPr>
              <a:t>(</a:t>
            </a:r>
            <a:r>
              <a:rPr lang="en-AU" sz="3200" dirty="0" err="1">
                <a:ea typeface="+mn-lt"/>
                <a:cs typeface="+mn-lt"/>
              </a:rPr>
              <a:t>keyname</a:t>
            </a:r>
            <a:r>
              <a:rPr lang="en-AU" sz="3200" dirty="0">
                <a:ea typeface="+mn-lt"/>
                <a:cs typeface="+mn-lt"/>
              </a:rPr>
              <a:t>, default)</a:t>
            </a:r>
            <a:endParaRPr lang="en-AU" sz="3200" dirty="0"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AU" sz="3200" dirty="0">
                <a:ea typeface="+mn-lt"/>
                <a:cs typeface="+mn-lt"/>
              </a:rPr>
              <a:t>default: what the value will be if the </a:t>
            </a:r>
            <a:r>
              <a:rPr lang="en-AU" sz="3200" dirty="0" err="1">
                <a:ea typeface="+mn-lt"/>
                <a:cs typeface="+mn-lt"/>
              </a:rPr>
              <a:t>keyname</a:t>
            </a:r>
            <a:r>
              <a:rPr lang="en-AU" sz="3200" dirty="0">
                <a:ea typeface="+mn-lt"/>
                <a:cs typeface="+mn-lt"/>
              </a:rPr>
              <a:t> does not exist.</a:t>
            </a:r>
            <a:endParaRPr lang="en-AU" sz="3600" dirty="0">
              <a:ea typeface="+mn-lt"/>
              <a:cs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2F50D9-6DAF-EF6E-AAA5-8AF405B38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More about the get() method</a:t>
            </a:r>
          </a:p>
        </p:txBody>
      </p:sp>
    </p:spTree>
    <p:extLst>
      <p:ext uri="{BB962C8B-B14F-4D97-AF65-F5344CB8AC3E}">
        <p14:creationId xmlns:p14="http://schemas.microsoft.com/office/powerpoint/2010/main" val="21813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30DE53B5-F63C-2DC9-DFCC-E868FCEB9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C8B5CA-4464-C5EA-6747-A73B8C436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283653"/>
              </p:ext>
            </p:extLst>
          </p:nvPr>
        </p:nvGraphicFramePr>
        <p:xfrm>
          <a:off x="600973" y="2270496"/>
          <a:ext cx="10990053" cy="3792399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2340249">
                  <a:extLst>
                    <a:ext uri="{9D8B030D-6E8A-4147-A177-3AD203B41FA5}">
                      <a16:colId xmlns:a16="http://schemas.microsoft.com/office/drawing/2014/main" val="3620782138"/>
                    </a:ext>
                  </a:extLst>
                </a:gridCol>
                <a:gridCol w="4284853">
                  <a:extLst>
                    <a:ext uri="{9D8B030D-6E8A-4147-A177-3AD203B41FA5}">
                      <a16:colId xmlns:a16="http://schemas.microsoft.com/office/drawing/2014/main" val="2830698785"/>
                    </a:ext>
                  </a:extLst>
                </a:gridCol>
                <a:gridCol w="4364951">
                  <a:extLst>
                    <a:ext uri="{9D8B030D-6E8A-4147-A177-3AD203B41FA5}">
                      <a16:colId xmlns:a16="http://schemas.microsoft.com/office/drawing/2014/main" val="1528654675"/>
                    </a:ext>
                  </a:extLst>
                </a:gridCol>
              </a:tblGrid>
              <a:tr h="5919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40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400" dirty="0"/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058396"/>
                  </a:ext>
                </a:extLst>
              </a:tr>
              <a:tr h="1509485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 err="1">
                          <a:solidFill>
                            <a:srgbClr val="000000"/>
                          </a:solidFill>
                        </a:rPr>
                        <a:t>KeyError</a:t>
                      </a:r>
                      <a:r>
                        <a:rPr lang="en-GB" sz="2200" b="0" i="0" u="none" strike="noStrike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br>
                        <a:rPr lang="en-GB" sz="2200" b="0" i="0" u="none" strike="noStrike" noProof="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GB" sz="2200" b="0" i="0" u="none" strike="noStrike" noProof="0" dirty="0">
                          <a:solidFill>
                            <a:srgbClr val="000000"/>
                          </a:solidFill>
                        </a:rPr>
                        <a:t>if the specific record does not exist.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2200" b="0" i="0" u="none" strike="noStrike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>
                          <a:solidFill>
                            <a:srgbClr val="FF00FF"/>
                          </a:solidFill>
                          <a:latin typeface="+mj-lt"/>
                        </a:rPr>
                        <a:t>print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(names[</a:t>
                      </a:r>
                      <a:r>
                        <a:rPr lang="en-GB" sz="2200" b="0" i="0" u="none" strike="noStrike" kern="1200" noProof="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GB" sz="2200" b="0" i="0" u="none" strike="noStrike" noProof="0" dirty="0">
                          <a:solidFill>
                            <a:srgbClr val="00B050"/>
                          </a:solidFill>
                          <a:latin typeface="+mj-lt"/>
                        </a:rPr>
                        <a:t>John"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])</a:t>
                      </a:r>
                      <a:endParaRPr 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2200" b="0" i="0" u="none" strike="noStrike" noProof="0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>
                          <a:solidFill>
                            <a:srgbClr val="FF0000"/>
                          </a:solidFill>
                          <a:latin typeface="+mj-lt"/>
                        </a:rPr>
                        <a:t>Traceback (most recent call last):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>
                          <a:solidFill>
                            <a:srgbClr val="FF0000"/>
                          </a:solidFill>
                          <a:latin typeface="+mj-lt"/>
                        </a:rPr>
                        <a:t>  File "C:\Dictionary.py", line 11, in &lt;module&gt; print(names[“John"]) </a:t>
                      </a:r>
                      <a:r>
                        <a:rPr lang="en-GB" sz="2200" b="0" i="0" u="none" strike="noStrike" noProof="0" dirty="0" err="1">
                          <a:solidFill>
                            <a:srgbClr val="FF0000"/>
                          </a:solidFill>
                          <a:latin typeface="+mj-lt"/>
                        </a:rPr>
                        <a:t>KeyError</a:t>
                      </a:r>
                      <a:r>
                        <a:rPr lang="en-GB" sz="2200" b="0" i="0" u="none" strike="noStrike" noProof="0" dirty="0">
                          <a:solidFill>
                            <a:srgbClr val="FF0000"/>
                          </a:solidFill>
                          <a:latin typeface="+mj-lt"/>
                        </a:rPr>
                        <a:t>: ‘John'</a:t>
                      </a:r>
                      <a:endParaRPr lang="en-GB" dirty="0">
                        <a:solidFill>
                          <a:srgbClr val="FF0000"/>
                        </a:solidFill>
                        <a:latin typeface="+mj-l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2200" b="0" i="0" u="none" strike="noStrike" noProof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96912"/>
                  </a:ext>
                </a:extLst>
              </a:tr>
              <a:tr h="65965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>
                          <a:solidFill>
                            <a:srgbClr val="000000"/>
                          </a:solidFill>
                          <a:latin typeface="Arial"/>
                        </a:rPr>
                        <a:t>get() method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>
                          <a:solidFill>
                            <a:srgbClr val="FF0000"/>
                          </a:solidFill>
                          <a:latin typeface="+mj-lt"/>
                        </a:rPr>
                        <a:t>#Value: if the value that you want to use if #the key does not exist in the dictionary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 err="1">
                          <a:solidFill>
                            <a:schemeClr val="tx1"/>
                          </a:solidFill>
                          <a:latin typeface="+mj-lt"/>
                        </a:rPr>
                        <a:t>dictionary_name.</a:t>
                      </a:r>
                      <a:r>
                        <a:rPr lang="en-GB" sz="2200" b="0" i="0" u="none" strike="noStrike" noProof="0" dirty="0" err="1">
                          <a:solidFill>
                            <a:srgbClr val="FF9900"/>
                          </a:solidFill>
                          <a:latin typeface="+mj-lt"/>
                        </a:rPr>
                        <a:t>get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(key, value)</a:t>
                      </a:r>
                      <a:endParaRPr lang="en-GB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2200" b="0" i="0" u="none" strike="noStrike" noProof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747949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707FC2D-CF03-F76E-66CE-60F405078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Get Method Example</a:t>
            </a:r>
          </a:p>
        </p:txBody>
      </p:sp>
    </p:spTree>
    <p:extLst>
      <p:ext uri="{BB962C8B-B14F-4D97-AF65-F5344CB8AC3E}">
        <p14:creationId xmlns:p14="http://schemas.microsoft.com/office/powerpoint/2010/main" val="1006355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B0285-9CA3-71CB-2907-31C72C929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64517"/>
            <a:ext cx="10972800" cy="1024128"/>
          </a:xfrm>
        </p:spPr>
        <p:txBody>
          <a:bodyPr>
            <a:noAutofit/>
          </a:bodyPr>
          <a:lstStyle/>
          <a:p>
            <a:r>
              <a:rPr lang="en-AU" sz="5700" dirty="0"/>
              <a:t>Let’s code!</a:t>
            </a:r>
          </a:p>
        </p:txBody>
      </p:sp>
      <p:pic>
        <p:nvPicPr>
          <p:cNvPr id="3" name="Picture 2" descr="A cartoon snake with a black background&#10;&#10;Description automatically generated">
            <a:extLst>
              <a:ext uri="{FF2B5EF4-FFF2-40B4-BE49-F238E27FC236}">
                <a16:creationId xmlns:a16="http://schemas.microsoft.com/office/drawing/2014/main" id="{25792989-5A38-524C-681E-40A44DA59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724399" y="1223683"/>
            <a:ext cx="4118043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59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52CEF0BA-3526-3AB9-2F09-E6D734CE9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D531E5-5D5B-3470-9417-86838708CAFA}"/>
              </a:ext>
            </a:extLst>
          </p:cNvPr>
          <p:cNvSpPr txBox="1"/>
          <p:nvPr/>
        </p:nvSpPr>
        <p:spPr>
          <a:xfrm>
            <a:off x="446315" y="2421873"/>
            <a:ext cx="8554208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Syntax: </a:t>
            </a:r>
            <a:endParaRPr lang="en-US" sz="3200" dirty="0">
              <a:latin typeface="Arial"/>
              <a:cs typeface="Arial"/>
            </a:endParaRPr>
          </a:p>
          <a:p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student = {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"name"</a:t>
            </a:r>
            <a:r>
              <a:rPr lang="en-US" sz="3200" dirty="0">
                <a:latin typeface="Arial"/>
                <a:cs typeface="Arial"/>
              </a:rPr>
              <a:t>: 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"Alex"</a:t>
            </a:r>
            <a:r>
              <a:rPr lang="en-US" sz="3200" dirty="0">
                <a:latin typeface="Arial"/>
                <a:cs typeface="Arial"/>
              </a:rPr>
              <a:t>, 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"age"</a:t>
            </a:r>
            <a:r>
              <a:rPr lang="en-US" sz="3200" dirty="0">
                <a:latin typeface="Arial"/>
                <a:cs typeface="Arial"/>
              </a:rPr>
              <a:t>: 21}
name = student[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"name"</a:t>
            </a:r>
            <a:r>
              <a:rPr lang="en-US" sz="3200" dirty="0">
                <a:latin typeface="Arial"/>
                <a:cs typeface="Arial"/>
              </a:rPr>
              <a:t>]
</a:t>
            </a:r>
            <a:r>
              <a:rPr lang="en-US" sz="3200" dirty="0">
                <a:solidFill>
                  <a:srgbClr val="F238D3"/>
                </a:solidFill>
                <a:latin typeface="Arial"/>
                <a:cs typeface="Arial"/>
              </a:rPr>
              <a:t>print</a:t>
            </a:r>
            <a:r>
              <a:rPr lang="en-US" sz="3200" dirty="0">
                <a:latin typeface="Arial"/>
                <a:cs typeface="Arial"/>
              </a:rPr>
              <a:t>(name)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8FA801-8B56-3F86-3986-B016BF7E928E}"/>
              </a:ext>
            </a:extLst>
          </p:cNvPr>
          <p:cNvSpPr txBox="1"/>
          <p:nvPr/>
        </p:nvSpPr>
        <p:spPr>
          <a:xfrm>
            <a:off x="8540566" y="2421873"/>
            <a:ext cx="294276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Output: </a:t>
            </a:r>
            <a:endParaRPr lang="en-US" sz="3200" dirty="0">
              <a:latin typeface="Arial"/>
              <a:cs typeface="Arial"/>
            </a:endParaRPr>
          </a:p>
          <a:p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cs typeface="Arial"/>
              </a:rPr>
              <a:t>Alex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5A3222A-1195-E56B-EA95-3C09F77D7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Accessing Values</a:t>
            </a:r>
          </a:p>
        </p:txBody>
      </p:sp>
    </p:spTree>
    <p:extLst>
      <p:ext uri="{BB962C8B-B14F-4D97-AF65-F5344CB8AC3E}">
        <p14:creationId xmlns:p14="http://schemas.microsoft.com/office/powerpoint/2010/main" val="1423623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DEAC1069-4154-39C7-5856-1979E8B52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6AB7F-E02B-145E-2430-F67D4E563FE3}"/>
              </a:ext>
            </a:extLst>
          </p:cNvPr>
          <p:cNvSpPr txBox="1"/>
          <p:nvPr/>
        </p:nvSpPr>
        <p:spPr>
          <a:xfrm>
            <a:off x="446315" y="2178376"/>
            <a:ext cx="11268379" cy="42165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Syntax: </a:t>
            </a:r>
            <a:endParaRPr lang="en-US" sz="3200" dirty="0">
              <a:latin typeface="Arial"/>
              <a:cs typeface="Arial"/>
            </a:endParaRPr>
          </a:p>
          <a:p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student = {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"name"</a:t>
            </a:r>
            <a:r>
              <a:rPr lang="en-US" sz="3200" dirty="0">
                <a:latin typeface="Arial"/>
                <a:cs typeface="Arial"/>
              </a:rPr>
              <a:t>: 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"Alex"</a:t>
            </a:r>
            <a:r>
              <a:rPr lang="en-US" sz="3200" dirty="0">
                <a:latin typeface="Arial"/>
                <a:cs typeface="Arial"/>
              </a:rPr>
              <a:t>, 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"age"</a:t>
            </a:r>
            <a:r>
              <a:rPr lang="en-US" sz="3200" dirty="0">
                <a:latin typeface="Arial"/>
                <a:cs typeface="Arial"/>
              </a:rPr>
              <a:t>: 21}
name = </a:t>
            </a:r>
            <a:r>
              <a:rPr lang="en-US" sz="3200" dirty="0" err="1">
                <a:latin typeface="Arial"/>
                <a:cs typeface="Arial"/>
              </a:rPr>
              <a:t>student.get</a:t>
            </a:r>
            <a:r>
              <a:rPr lang="en-US" sz="3200" dirty="0">
                <a:latin typeface="Arial"/>
                <a:cs typeface="Arial"/>
              </a:rPr>
              <a:t>(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"name"</a:t>
            </a:r>
            <a:r>
              <a:rPr lang="en-US" sz="3200" dirty="0">
                <a:latin typeface="Arial"/>
                <a:cs typeface="Arial"/>
              </a:rPr>
              <a:t>)
</a:t>
            </a:r>
            <a:r>
              <a:rPr lang="en-US" sz="3200" dirty="0">
                <a:solidFill>
                  <a:srgbClr val="F238D3"/>
                </a:solidFill>
                <a:latin typeface="Arial"/>
                <a:cs typeface="Arial"/>
              </a:rPr>
              <a:t>print</a:t>
            </a:r>
            <a:r>
              <a:rPr lang="en-US" sz="3200" dirty="0">
                <a:latin typeface="Arial"/>
                <a:cs typeface="Arial"/>
              </a:rPr>
              <a:t>(name)  </a:t>
            </a:r>
            <a:endParaRPr lang="en-US" dirty="0">
              <a:latin typeface="Arial"/>
              <a:cs typeface="Arial"/>
            </a:endParaRPr>
          </a:p>
          <a:p>
            <a:r>
              <a:rPr lang="en-US" sz="2200" dirty="0">
                <a:solidFill>
                  <a:srgbClr val="FF0000"/>
                </a:solidFill>
                <a:latin typeface="Arial"/>
                <a:cs typeface="Arial"/>
              </a:rPr>
              <a:t>
# Using the get() method, which returns None or a default value if the key is not found.</a:t>
            </a:r>
          </a:p>
          <a:p>
            <a:r>
              <a:rPr lang="en-US" sz="3200" dirty="0">
                <a:latin typeface="Arial"/>
                <a:cs typeface="Arial"/>
              </a:rPr>
              <a:t>grade = </a:t>
            </a:r>
            <a:r>
              <a:rPr lang="en-US" sz="3200" dirty="0" err="1">
                <a:latin typeface="Arial"/>
                <a:cs typeface="Arial"/>
              </a:rPr>
              <a:t>student.get</a:t>
            </a:r>
            <a:r>
              <a:rPr lang="en-US" sz="3200" dirty="0">
                <a:latin typeface="Arial"/>
                <a:cs typeface="Arial"/>
              </a:rPr>
              <a:t>(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"grade"</a:t>
            </a:r>
            <a:r>
              <a:rPr lang="en-US" sz="3200" dirty="0">
                <a:latin typeface="Arial"/>
                <a:cs typeface="Arial"/>
              </a:rPr>
              <a:t>)
</a:t>
            </a:r>
            <a:r>
              <a:rPr lang="en-US" sz="3200" dirty="0">
                <a:solidFill>
                  <a:srgbClr val="F238D3"/>
                </a:solidFill>
                <a:latin typeface="Arial"/>
                <a:cs typeface="Arial"/>
              </a:rPr>
              <a:t>print</a:t>
            </a:r>
            <a:r>
              <a:rPr lang="en-US" sz="3200" dirty="0">
                <a:latin typeface="Arial"/>
                <a:cs typeface="Arial"/>
              </a:rPr>
              <a:t>(grade)  </a:t>
            </a:r>
            <a:endParaRPr lang="en-US" dirty="0"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DF423-43B1-4F48-D5E1-4A7536D37FAF}"/>
              </a:ext>
            </a:extLst>
          </p:cNvPr>
          <p:cNvSpPr txBox="1"/>
          <p:nvPr/>
        </p:nvSpPr>
        <p:spPr>
          <a:xfrm>
            <a:off x="8445676" y="2198664"/>
            <a:ext cx="2942762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Output: </a:t>
            </a:r>
            <a:endParaRPr lang="en-US" sz="3200" dirty="0">
              <a:latin typeface="Arial"/>
              <a:cs typeface="Arial"/>
            </a:endParaRPr>
          </a:p>
          <a:p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cs typeface="Arial"/>
              </a:rPr>
              <a:t>Alex</a:t>
            </a:r>
          </a:p>
          <a:p>
            <a:r>
              <a:rPr lang="en-US" sz="3200" dirty="0">
                <a:cs typeface="Arial"/>
              </a:rPr>
              <a:t>None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3AAAF1C-B0DC-B960-FC02-44E576A6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Accessing Values</a:t>
            </a:r>
          </a:p>
        </p:txBody>
      </p:sp>
    </p:spTree>
    <p:extLst>
      <p:ext uri="{BB962C8B-B14F-4D97-AF65-F5344CB8AC3E}">
        <p14:creationId xmlns:p14="http://schemas.microsoft.com/office/powerpoint/2010/main" val="587431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2C70BC85-05FB-B108-3EF6-84526C45F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698320-47C1-6045-F208-AC81178C4C3C}"/>
              </a:ext>
            </a:extLst>
          </p:cNvPr>
          <p:cNvSpPr txBox="1"/>
          <p:nvPr/>
        </p:nvSpPr>
        <p:spPr>
          <a:xfrm>
            <a:off x="477307" y="2126617"/>
            <a:ext cx="11268379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Syntax: </a:t>
            </a:r>
            <a:endParaRPr lang="en-US" sz="3200" dirty="0">
              <a:latin typeface="Arial"/>
              <a:cs typeface="Arial"/>
            </a:endParaRPr>
          </a:p>
          <a:p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student = {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"name"</a:t>
            </a:r>
            <a:r>
              <a:rPr lang="en-US" sz="3200" dirty="0">
                <a:latin typeface="Arial"/>
                <a:cs typeface="Arial"/>
              </a:rPr>
              <a:t>: 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"Alex"</a:t>
            </a:r>
            <a:r>
              <a:rPr lang="en-US" sz="3200" dirty="0">
                <a:latin typeface="Arial"/>
                <a:cs typeface="Arial"/>
              </a:rPr>
              <a:t>, 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"age"</a:t>
            </a:r>
            <a:r>
              <a:rPr lang="en-US" sz="3200" dirty="0">
                <a:latin typeface="Arial"/>
                <a:cs typeface="Arial"/>
              </a:rPr>
              <a:t>: 21}
</a:t>
            </a:r>
            <a:r>
              <a:rPr lang="en-US" sz="3200" dirty="0">
                <a:ea typeface="+mn-lt"/>
                <a:cs typeface="+mn-lt"/>
              </a:rPr>
              <a:t>student[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"unit"</a:t>
            </a:r>
            <a:r>
              <a:rPr lang="en-US" sz="3200" dirty="0">
                <a:latin typeface="Arial"/>
                <a:cs typeface="Arial"/>
              </a:rPr>
              <a:t>]</a:t>
            </a:r>
            <a:r>
              <a:rPr lang="en-US" sz="3200" dirty="0">
                <a:ea typeface="+mn-lt"/>
                <a:cs typeface="+mn-lt"/>
              </a:rPr>
              <a:t> = </a:t>
            </a:r>
            <a:r>
              <a:rPr lang="en-US" sz="3200" dirty="0">
                <a:solidFill>
                  <a:srgbClr val="00B050"/>
                </a:solidFill>
                <a:latin typeface="Arial"/>
                <a:cs typeface="Arial"/>
              </a:rPr>
              <a:t>"Python"</a:t>
            </a:r>
            <a:r>
              <a:rPr lang="en-US" sz="3200" dirty="0">
                <a:latin typeface="Arial"/>
                <a:cs typeface="Arial"/>
              </a:rPr>
              <a:t> </a:t>
            </a:r>
            <a:r>
              <a:rPr lang="en-US" sz="3200" dirty="0">
                <a:solidFill>
                  <a:srgbClr val="FF0000"/>
                </a:solidFill>
                <a:ea typeface="+mn-lt"/>
                <a:cs typeface="+mn-lt"/>
              </a:rPr>
              <a:t># add item to the dictionary</a:t>
            </a:r>
            <a:endParaRPr lang="en-US" dirty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F238D3"/>
                </a:solidFill>
                <a:latin typeface="Arial"/>
                <a:cs typeface="Arial"/>
              </a:rPr>
              <a:t>print</a:t>
            </a:r>
            <a:r>
              <a:rPr lang="en-US" sz="3200" dirty="0">
                <a:latin typeface="Arial"/>
                <a:cs typeface="Arial"/>
              </a:rPr>
              <a:t>(student)  </a:t>
            </a:r>
            <a:endParaRPr lang="en-US" dirty="0">
              <a:latin typeface="Arial"/>
              <a:cs typeface="Arial"/>
            </a:endParaRPr>
          </a:p>
          <a:p>
            <a:r>
              <a:rPr lang="en-US" sz="2200" dirty="0">
                <a:latin typeface="Arial"/>
                <a:cs typeface="Arial"/>
              </a:rPr>
              <a:t>
</a:t>
            </a:r>
            <a:r>
              <a:rPr lang="en-AU" sz="3200" b="1" dirty="0">
                <a:latin typeface="Arial"/>
                <a:cs typeface="Arial"/>
              </a:rPr>
              <a:t>Output:</a:t>
            </a:r>
            <a:endParaRPr lang="en-US" sz="2200" dirty="0"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{'name': 'Alex', 'age': 21, 'unit': 'Python'}</a:t>
            </a:r>
            <a:r>
              <a:rPr lang="en-US" sz="3200" dirty="0">
                <a:solidFill>
                  <a:srgbClr val="0070C0"/>
                </a:solidFill>
                <a:latin typeface="Arial"/>
                <a:cs typeface="Arial"/>
              </a:rPr>
              <a:t>  </a:t>
            </a:r>
            <a:endParaRPr lang="en-US" dirty="0">
              <a:solidFill>
                <a:srgbClr val="0070C0"/>
              </a:solidFill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50A4ED-C014-1C66-06EF-963249171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Modifying Dictionaries</a:t>
            </a:r>
          </a:p>
        </p:txBody>
      </p:sp>
    </p:spTree>
    <p:extLst>
      <p:ext uri="{BB962C8B-B14F-4D97-AF65-F5344CB8AC3E}">
        <p14:creationId xmlns:p14="http://schemas.microsoft.com/office/powerpoint/2010/main" val="102308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8759E1A4-CE76-B79A-3630-02B9A0B8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D95DA1-5B34-B00F-193D-42F370B6320D}"/>
              </a:ext>
            </a:extLst>
          </p:cNvPr>
          <p:cNvSpPr txBox="1"/>
          <p:nvPr/>
        </p:nvSpPr>
        <p:spPr>
          <a:xfrm>
            <a:off x="480819" y="2307772"/>
            <a:ext cx="11268379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Syntax: 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FF0000"/>
                </a:solidFill>
                <a:latin typeface="+mj-lt"/>
                <a:cs typeface="Arial"/>
              </a:rPr>
              <a:t># Update the value associated with an existing key.</a:t>
            </a:r>
          </a:p>
          <a:p>
            <a:r>
              <a:rPr lang="en-AU" sz="3200" dirty="0">
                <a:ea typeface="+mn-lt"/>
                <a:cs typeface="+mn-lt"/>
              </a:rPr>
              <a:t>student = {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"name"</a:t>
            </a:r>
            <a:r>
              <a:rPr lang="en-AU" sz="3200" dirty="0">
                <a:ea typeface="+mn-lt"/>
                <a:cs typeface="+mn-lt"/>
              </a:rPr>
              <a:t>: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"Alex"</a:t>
            </a:r>
            <a:r>
              <a:rPr lang="en-AU" sz="3200" dirty="0">
                <a:ea typeface="+mn-lt"/>
                <a:cs typeface="+mn-lt"/>
              </a:rPr>
              <a:t>,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"age"</a:t>
            </a:r>
            <a:r>
              <a:rPr lang="en-AU" sz="3200" dirty="0">
                <a:ea typeface="+mn-lt"/>
                <a:cs typeface="+mn-lt"/>
              </a:rPr>
              <a:t>: 21,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</a:t>
            </a:r>
            <a:r>
              <a:rPr lang="en-AU" sz="3200" dirty="0" err="1">
                <a:solidFill>
                  <a:srgbClr val="00B050"/>
                </a:solidFill>
                <a:ea typeface="+mn-lt"/>
                <a:cs typeface="+mn-lt"/>
              </a:rPr>
              <a:t>unit"</a:t>
            </a:r>
            <a:r>
              <a:rPr lang="en-AU" sz="3200" dirty="0" err="1">
                <a:ea typeface="+mn-lt"/>
                <a:cs typeface="+mn-lt"/>
              </a:rPr>
              <a:t>:</a:t>
            </a:r>
            <a:r>
              <a:rPr lang="en-AU" sz="3200" dirty="0" err="1">
                <a:solidFill>
                  <a:srgbClr val="00B050"/>
                </a:solidFill>
                <a:ea typeface="+mn-lt"/>
                <a:cs typeface="+mn-lt"/>
              </a:rPr>
              <a:t>"Python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</a:t>
            </a:r>
            <a:r>
              <a:rPr lang="en-AU" sz="3200" dirty="0">
                <a:ea typeface="+mn-lt"/>
                <a:cs typeface="+mn-lt"/>
              </a:rPr>
              <a:t>}</a:t>
            </a:r>
          </a:p>
          <a:p>
            <a:r>
              <a:rPr lang="en-US" sz="3200" dirty="0">
                <a:ea typeface="+mn-lt"/>
                <a:cs typeface="+mn-lt"/>
              </a:rPr>
              <a:t>student[</a:t>
            </a:r>
            <a:r>
              <a:rPr lang="en-US" sz="3200" dirty="0">
                <a:solidFill>
                  <a:srgbClr val="00B050"/>
                </a:solidFill>
                <a:ea typeface="+mn-lt"/>
                <a:cs typeface="+mn-lt"/>
              </a:rPr>
              <a:t>"age"</a:t>
            </a:r>
            <a:r>
              <a:rPr lang="en-US" sz="3200" dirty="0">
                <a:ea typeface="+mn-lt"/>
                <a:cs typeface="+mn-lt"/>
              </a:rPr>
              <a:t>] = 22 </a:t>
            </a:r>
          </a:p>
          <a:p>
            <a:r>
              <a:rPr lang="en-US" sz="3200" dirty="0">
                <a:ea typeface="+mn-lt"/>
                <a:cs typeface="+mn-lt"/>
              </a:rPr>
              <a:t>print(student)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2200" dirty="0">
                <a:latin typeface="Arial"/>
                <a:cs typeface="Arial"/>
              </a:rPr>
              <a:t>
</a:t>
            </a:r>
            <a:r>
              <a:rPr lang="en-AU" sz="3200" b="1" dirty="0">
                <a:latin typeface="Arial"/>
                <a:cs typeface="Arial"/>
              </a:rPr>
              <a:t>Output:</a:t>
            </a:r>
            <a:endParaRPr lang="en-US" sz="2200" dirty="0"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{'name': 'Alex', 'age': 22, 'unit': 'Python'}</a:t>
            </a:r>
            <a:r>
              <a:rPr lang="en-US" sz="3200" dirty="0">
                <a:solidFill>
                  <a:srgbClr val="0070C0"/>
                </a:solidFill>
                <a:latin typeface="Arial"/>
                <a:cs typeface="Arial"/>
              </a:rPr>
              <a:t>  </a:t>
            </a:r>
            <a:endParaRPr lang="en-US" dirty="0">
              <a:solidFill>
                <a:srgbClr val="0070C0"/>
              </a:solidFill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D4DFB7-6FBA-2AC6-ECE2-2E66637EF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Updating Dictionaries</a:t>
            </a:r>
          </a:p>
        </p:txBody>
      </p:sp>
    </p:spTree>
    <p:extLst>
      <p:ext uri="{BB962C8B-B14F-4D97-AF65-F5344CB8AC3E}">
        <p14:creationId xmlns:p14="http://schemas.microsoft.com/office/powerpoint/2010/main" val="2866398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B6792B19-C8A9-EF78-A274-6DC9A1D7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266858-587F-4E63-389F-6EEAA66E6439}"/>
              </a:ext>
            </a:extLst>
          </p:cNvPr>
          <p:cNvSpPr txBox="1"/>
          <p:nvPr/>
        </p:nvSpPr>
        <p:spPr>
          <a:xfrm>
            <a:off x="477307" y="2212882"/>
            <a:ext cx="11268379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Syntax: 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FF0000"/>
                </a:solidFill>
                <a:latin typeface="+mj-lt"/>
                <a:cs typeface="Arial"/>
              </a:rPr>
              <a:t>#</a:t>
            </a:r>
            <a:r>
              <a:rPr lang="en-US" sz="3200" dirty="0">
                <a:solidFill>
                  <a:srgbClr val="FF0000"/>
                </a:solidFill>
                <a:latin typeface="+mj-lt"/>
                <a:ea typeface="+mn-lt"/>
                <a:cs typeface="+mn-lt"/>
              </a:rPr>
              <a:t> Remove key-value pairs using the </a:t>
            </a:r>
            <a:r>
              <a:rPr lang="en-US" sz="3200" dirty="0">
                <a:solidFill>
                  <a:srgbClr val="FF0000"/>
                </a:solidFill>
                <a:latin typeface="+mj-lt"/>
                <a:cs typeface="Arial"/>
              </a:rPr>
              <a:t>del</a:t>
            </a:r>
            <a:r>
              <a:rPr lang="en-US" sz="3200" dirty="0">
                <a:solidFill>
                  <a:srgbClr val="FF0000"/>
                </a:solidFill>
                <a:latin typeface="+mj-lt"/>
                <a:ea typeface="+mn-lt"/>
                <a:cs typeface="+mn-lt"/>
              </a:rPr>
              <a:t> statement</a:t>
            </a:r>
            <a:r>
              <a:rPr lang="en-US" sz="3200" dirty="0">
                <a:solidFill>
                  <a:srgbClr val="FF0000"/>
                </a:solidFill>
                <a:latin typeface="+mj-lt"/>
                <a:cs typeface="Arial"/>
              </a:rPr>
              <a:t>.</a:t>
            </a:r>
          </a:p>
          <a:p>
            <a:r>
              <a:rPr lang="en-AU" sz="3200" dirty="0">
                <a:ea typeface="+mn-lt"/>
                <a:cs typeface="+mn-lt"/>
              </a:rPr>
              <a:t>student = {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"name"</a:t>
            </a:r>
            <a:r>
              <a:rPr lang="en-AU" sz="3200" dirty="0">
                <a:ea typeface="+mn-lt"/>
                <a:cs typeface="+mn-lt"/>
              </a:rPr>
              <a:t>: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"Alex"</a:t>
            </a:r>
            <a:r>
              <a:rPr lang="en-AU" sz="3200" dirty="0">
                <a:ea typeface="+mn-lt"/>
                <a:cs typeface="+mn-lt"/>
              </a:rPr>
              <a:t>,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"age"</a:t>
            </a:r>
            <a:r>
              <a:rPr lang="en-AU" sz="3200" dirty="0">
                <a:ea typeface="+mn-lt"/>
                <a:cs typeface="+mn-lt"/>
              </a:rPr>
              <a:t>: 21,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</a:t>
            </a:r>
            <a:r>
              <a:rPr lang="en-AU" sz="3200" dirty="0" err="1">
                <a:solidFill>
                  <a:srgbClr val="00B050"/>
                </a:solidFill>
                <a:ea typeface="+mn-lt"/>
                <a:cs typeface="+mn-lt"/>
              </a:rPr>
              <a:t>unit"</a:t>
            </a:r>
            <a:r>
              <a:rPr lang="en-AU" sz="3200" dirty="0" err="1">
                <a:ea typeface="+mn-lt"/>
                <a:cs typeface="+mn-lt"/>
              </a:rPr>
              <a:t>:</a:t>
            </a:r>
            <a:r>
              <a:rPr lang="en-AU" sz="3200" dirty="0" err="1">
                <a:solidFill>
                  <a:srgbClr val="00B050"/>
                </a:solidFill>
                <a:ea typeface="+mn-lt"/>
                <a:cs typeface="+mn-lt"/>
              </a:rPr>
              <a:t>"Python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</a:t>
            </a:r>
            <a:r>
              <a:rPr lang="en-AU" sz="3200" dirty="0">
                <a:ea typeface="+mn-lt"/>
                <a:cs typeface="+mn-lt"/>
              </a:rPr>
              <a:t>}</a:t>
            </a:r>
          </a:p>
          <a:p>
            <a:r>
              <a:rPr lang="en-US" sz="3200" dirty="0">
                <a:ea typeface="+mn-lt"/>
                <a:cs typeface="+mn-lt"/>
              </a:rPr>
              <a:t>del student[</a:t>
            </a:r>
            <a:r>
              <a:rPr lang="en-US" sz="3200" dirty="0">
                <a:solidFill>
                  <a:srgbClr val="00B050"/>
                </a:solidFill>
                <a:ea typeface="+mn-lt"/>
                <a:cs typeface="+mn-lt"/>
              </a:rPr>
              <a:t>"age"</a:t>
            </a:r>
            <a:r>
              <a:rPr lang="en-US" sz="3200" dirty="0">
                <a:ea typeface="+mn-lt"/>
                <a:cs typeface="+mn-lt"/>
              </a:rPr>
              <a:t>]  </a:t>
            </a:r>
          </a:p>
          <a:p>
            <a:r>
              <a:rPr lang="en-US" sz="3200" dirty="0">
                <a:solidFill>
                  <a:srgbClr val="F238D3"/>
                </a:solidFill>
                <a:ea typeface="+mn-lt"/>
                <a:cs typeface="+mn-lt"/>
              </a:rPr>
              <a:t>print</a:t>
            </a:r>
            <a:r>
              <a:rPr lang="en-US" sz="3200" dirty="0">
                <a:ea typeface="+mn-lt"/>
                <a:cs typeface="+mn-lt"/>
              </a:rPr>
              <a:t>(student)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2200" dirty="0">
                <a:latin typeface="Arial"/>
                <a:cs typeface="Arial"/>
              </a:rPr>
              <a:t>
</a:t>
            </a:r>
            <a:r>
              <a:rPr lang="en-AU" sz="3200" b="1" dirty="0">
                <a:latin typeface="Arial"/>
                <a:cs typeface="Arial"/>
              </a:rPr>
              <a:t>Output:</a:t>
            </a:r>
            <a:endParaRPr lang="en-US" sz="2200" dirty="0"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{'name': 'Alex', 'unit': 'Python'}</a:t>
            </a:r>
            <a:r>
              <a:rPr lang="en-US" sz="3200" dirty="0">
                <a:solidFill>
                  <a:srgbClr val="0070C0"/>
                </a:solidFill>
                <a:latin typeface="Arial"/>
                <a:cs typeface="Arial"/>
              </a:rPr>
              <a:t>  </a:t>
            </a:r>
            <a:endParaRPr lang="en-US" dirty="0">
              <a:solidFill>
                <a:srgbClr val="0070C0"/>
              </a:solidFill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19F1DA-E276-4BE8-3DCF-F44BE7A40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Deleting Dictionaries</a:t>
            </a:r>
          </a:p>
        </p:txBody>
      </p:sp>
    </p:spTree>
    <p:extLst>
      <p:ext uri="{BB962C8B-B14F-4D97-AF65-F5344CB8AC3E}">
        <p14:creationId xmlns:p14="http://schemas.microsoft.com/office/powerpoint/2010/main" val="23325637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A5B7ECA2-2BCB-E6E2-257F-5051F32F9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A221D2-36D3-C6E9-F572-E1CE2BEEA225}"/>
              </a:ext>
            </a:extLst>
          </p:cNvPr>
          <p:cNvSpPr txBox="1"/>
          <p:nvPr/>
        </p:nvSpPr>
        <p:spPr>
          <a:xfrm>
            <a:off x="477307" y="2325025"/>
            <a:ext cx="11268379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Syntax: 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FF0000"/>
                </a:solidFill>
                <a:latin typeface="Arial"/>
                <a:cs typeface="Arial"/>
              </a:rPr>
              <a:t>#</a:t>
            </a:r>
            <a:r>
              <a:rPr lang="en-US" sz="3200" dirty="0">
                <a:solidFill>
                  <a:srgbClr val="FF0000"/>
                </a:solidFill>
                <a:ea typeface="+mn-lt"/>
                <a:cs typeface="+mn-lt"/>
              </a:rPr>
              <a:t> Remove all key-value pairs using the </a:t>
            </a:r>
            <a:r>
              <a:rPr lang="en-US" sz="3200" dirty="0">
                <a:solidFill>
                  <a:srgbClr val="FF0000"/>
                </a:solidFill>
                <a:latin typeface="Arial"/>
                <a:cs typeface="Arial"/>
              </a:rPr>
              <a:t>clear</a:t>
            </a:r>
            <a:r>
              <a:rPr lang="en-US" sz="3200" dirty="0">
                <a:solidFill>
                  <a:srgbClr val="FF0000"/>
                </a:solidFill>
                <a:latin typeface="Arial"/>
                <a:ea typeface="+mn-lt"/>
                <a:cs typeface="+mn-lt"/>
              </a:rPr>
              <a:t>()</a:t>
            </a:r>
            <a:r>
              <a:rPr lang="en-US" sz="3200" dirty="0">
                <a:solidFill>
                  <a:srgbClr val="FF0000"/>
                </a:solidFill>
                <a:ea typeface="+mn-lt"/>
                <a:cs typeface="+mn-lt"/>
              </a:rPr>
              <a:t> method.</a:t>
            </a:r>
            <a:endParaRPr lang="en-US" sz="3200" dirty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AU" sz="3200" dirty="0">
                <a:ea typeface="+mn-lt"/>
                <a:cs typeface="+mn-lt"/>
              </a:rPr>
              <a:t>student = {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"name"</a:t>
            </a:r>
            <a:r>
              <a:rPr lang="en-AU" sz="3200" dirty="0">
                <a:ea typeface="+mn-lt"/>
                <a:cs typeface="+mn-lt"/>
              </a:rPr>
              <a:t>: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"Alex"</a:t>
            </a:r>
            <a:r>
              <a:rPr lang="en-AU" sz="3200" dirty="0">
                <a:ea typeface="+mn-lt"/>
                <a:cs typeface="+mn-lt"/>
              </a:rPr>
              <a:t>,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</a:t>
            </a:r>
            <a:r>
              <a:rPr lang="en-AU" sz="3200" dirty="0" err="1">
                <a:solidFill>
                  <a:srgbClr val="00B050"/>
                </a:solidFill>
                <a:ea typeface="+mn-lt"/>
                <a:cs typeface="+mn-lt"/>
              </a:rPr>
              <a:t>unit"</a:t>
            </a:r>
            <a:r>
              <a:rPr lang="en-AU" sz="3200" dirty="0" err="1">
                <a:ea typeface="+mn-lt"/>
                <a:cs typeface="+mn-lt"/>
              </a:rPr>
              <a:t>:</a:t>
            </a:r>
            <a:r>
              <a:rPr lang="en-AU" sz="3200" dirty="0" err="1">
                <a:solidFill>
                  <a:srgbClr val="00B050"/>
                </a:solidFill>
                <a:ea typeface="+mn-lt"/>
                <a:cs typeface="+mn-lt"/>
              </a:rPr>
              <a:t>"Python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</a:t>
            </a:r>
            <a:r>
              <a:rPr lang="en-AU" sz="3200" dirty="0">
                <a:ea typeface="+mn-lt"/>
                <a:cs typeface="+mn-lt"/>
              </a:rPr>
              <a:t>}</a:t>
            </a:r>
          </a:p>
          <a:p>
            <a:r>
              <a:rPr lang="en-US" sz="3200" dirty="0" err="1">
                <a:ea typeface="+mn-lt"/>
                <a:cs typeface="+mn-lt"/>
              </a:rPr>
              <a:t>student.clear</a:t>
            </a:r>
            <a:r>
              <a:rPr lang="en-US" sz="3200" dirty="0">
                <a:ea typeface="+mn-lt"/>
                <a:cs typeface="+mn-lt"/>
              </a:rPr>
              <a:t>() </a:t>
            </a:r>
          </a:p>
          <a:p>
            <a:r>
              <a:rPr lang="en-US" sz="3200" dirty="0">
                <a:solidFill>
                  <a:srgbClr val="F238D3"/>
                </a:solidFill>
                <a:ea typeface="+mn-lt"/>
                <a:cs typeface="+mn-lt"/>
              </a:rPr>
              <a:t>print</a:t>
            </a:r>
            <a:r>
              <a:rPr lang="en-US" sz="3200" dirty="0">
                <a:ea typeface="+mn-lt"/>
                <a:cs typeface="+mn-lt"/>
              </a:rPr>
              <a:t>(student)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2200" dirty="0">
                <a:latin typeface="Arial"/>
                <a:cs typeface="Arial"/>
              </a:rPr>
              <a:t>
</a:t>
            </a:r>
            <a:r>
              <a:rPr lang="en-AU" sz="3200" b="1" dirty="0">
                <a:latin typeface="Arial"/>
                <a:cs typeface="Arial"/>
              </a:rPr>
              <a:t>Output:</a:t>
            </a:r>
            <a:endParaRPr lang="en-US" sz="2200" dirty="0"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0070C0"/>
                </a:solidFill>
                <a:ea typeface="+mn-lt"/>
                <a:cs typeface="+mn-lt"/>
              </a:rPr>
              <a:t>{ }</a:t>
            </a:r>
            <a:r>
              <a:rPr lang="en-US" sz="3200" dirty="0">
                <a:solidFill>
                  <a:srgbClr val="0070C0"/>
                </a:solidFill>
                <a:latin typeface="Arial"/>
                <a:cs typeface="Arial"/>
              </a:rPr>
              <a:t>  </a:t>
            </a:r>
            <a:endParaRPr lang="en-US" dirty="0">
              <a:solidFill>
                <a:srgbClr val="0070C0"/>
              </a:solidFill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025C7A-7C8C-A0B5-9AE7-4A234CA92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Clearing a Dictionary</a:t>
            </a:r>
          </a:p>
        </p:txBody>
      </p:sp>
    </p:spTree>
    <p:extLst>
      <p:ext uri="{BB962C8B-B14F-4D97-AF65-F5344CB8AC3E}">
        <p14:creationId xmlns:p14="http://schemas.microsoft.com/office/powerpoint/2010/main" val="1316295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37AADF4A-AEDF-69E3-12EC-B3AC1F92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4B0D98-92E1-8892-BD6F-74A62455ECA4}"/>
              </a:ext>
            </a:extLst>
          </p:cNvPr>
          <p:cNvSpPr txBox="1"/>
          <p:nvPr/>
        </p:nvSpPr>
        <p:spPr>
          <a:xfrm>
            <a:off x="464483" y="2076653"/>
            <a:ext cx="11299372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Syntax: 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FF0000"/>
                </a:solidFill>
                <a:latin typeface="+mj-lt"/>
                <a:cs typeface="Arial"/>
              </a:rPr>
              <a:t>#</a:t>
            </a:r>
            <a:r>
              <a:rPr lang="en-US" sz="3200" dirty="0">
                <a:solidFill>
                  <a:srgbClr val="FF0000"/>
                </a:solidFill>
                <a:latin typeface="+mj-lt"/>
                <a:ea typeface="+mn-lt"/>
                <a:cs typeface="+mn-lt"/>
              </a:rPr>
              <a:t> get(). Retrieves a value by key, with an optional default if the key is not found.</a:t>
            </a:r>
            <a:endParaRPr lang="en-US" sz="3200" dirty="0">
              <a:solidFill>
                <a:srgbClr val="FF0000"/>
              </a:solidFill>
              <a:latin typeface="+mj-lt"/>
              <a:cs typeface="Arial"/>
            </a:endParaRPr>
          </a:p>
          <a:p>
            <a:r>
              <a:rPr lang="en-AU" sz="3200" dirty="0">
                <a:latin typeface="+mj-lt"/>
                <a:ea typeface="+mn-lt"/>
                <a:cs typeface="+mn-lt"/>
              </a:rPr>
              <a:t>student = {</a:t>
            </a:r>
            <a:r>
              <a:rPr lang="en-AU" sz="3200" dirty="0">
                <a:solidFill>
                  <a:srgbClr val="00B050"/>
                </a:solidFill>
                <a:latin typeface="+mj-lt"/>
                <a:ea typeface="+mn-lt"/>
                <a:cs typeface="+mn-lt"/>
              </a:rPr>
              <a:t>"age"</a:t>
            </a:r>
            <a:r>
              <a:rPr lang="en-AU" sz="3200" dirty="0">
                <a:latin typeface="+mj-lt"/>
                <a:ea typeface="+mn-lt"/>
                <a:cs typeface="+mn-lt"/>
              </a:rPr>
              <a:t>: 22}</a:t>
            </a:r>
          </a:p>
          <a:p>
            <a:r>
              <a:rPr lang="en-AU" sz="3200" dirty="0">
                <a:latin typeface="+mj-lt"/>
                <a:ea typeface="+mn-lt"/>
                <a:cs typeface="+mn-lt"/>
              </a:rPr>
              <a:t>name = </a:t>
            </a:r>
            <a:r>
              <a:rPr lang="en-AU" sz="3200" dirty="0" err="1">
                <a:latin typeface="+mj-lt"/>
                <a:ea typeface="+mn-lt"/>
                <a:cs typeface="+mn-lt"/>
              </a:rPr>
              <a:t>student.get</a:t>
            </a:r>
            <a:r>
              <a:rPr lang="en-AU" sz="3200" dirty="0">
                <a:latin typeface="+mj-lt"/>
                <a:ea typeface="+mn-lt"/>
                <a:cs typeface="+mn-lt"/>
              </a:rPr>
              <a:t>(</a:t>
            </a:r>
            <a:r>
              <a:rPr lang="en-AU" sz="3200" dirty="0">
                <a:solidFill>
                  <a:srgbClr val="00B050"/>
                </a:solidFill>
                <a:latin typeface="+mj-lt"/>
                <a:ea typeface="+mn-lt"/>
                <a:cs typeface="+mn-lt"/>
              </a:rPr>
              <a:t>"name"</a:t>
            </a:r>
            <a:r>
              <a:rPr lang="en-AU" sz="3200" dirty="0">
                <a:latin typeface="+mj-lt"/>
                <a:ea typeface="+mn-lt"/>
                <a:cs typeface="+mn-lt"/>
              </a:rPr>
              <a:t>, </a:t>
            </a:r>
            <a:r>
              <a:rPr lang="en-AU" sz="3200" dirty="0">
                <a:solidFill>
                  <a:srgbClr val="00B050"/>
                </a:solidFill>
                <a:latin typeface="+mj-lt"/>
                <a:ea typeface="+mn-lt"/>
                <a:cs typeface="+mn-lt"/>
              </a:rPr>
              <a:t>"Not found"</a:t>
            </a:r>
            <a:r>
              <a:rPr lang="en-AU" sz="3200" dirty="0">
                <a:latin typeface="+mj-lt"/>
                <a:ea typeface="+mn-lt"/>
                <a:cs typeface="+mn-lt"/>
              </a:rPr>
              <a:t>)</a:t>
            </a:r>
          </a:p>
          <a:p>
            <a:r>
              <a:rPr lang="en-AU" sz="3200" dirty="0">
                <a:solidFill>
                  <a:srgbClr val="F238D3"/>
                </a:solidFill>
                <a:latin typeface="+mj-lt"/>
                <a:ea typeface="+mn-lt"/>
                <a:cs typeface="+mn-lt"/>
              </a:rPr>
              <a:t>print</a:t>
            </a:r>
            <a:r>
              <a:rPr lang="en-AU" sz="3200" dirty="0">
                <a:latin typeface="+mj-lt"/>
                <a:ea typeface="+mn-lt"/>
                <a:cs typeface="+mn-lt"/>
              </a:rPr>
              <a:t>(name)</a:t>
            </a:r>
          </a:p>
          <a:p>
            <a:r>
              <a:rPr lang="en-US" sz="2200" dirty="0">
                <a:latin typeface="Arial"/>
                <a:cs typeface="Arial"/>
              </a:rPr>
              <a:t>
</a:t>
            </a:r>
            <a:r>
              <a:rPr lang="en-AU" sz="3200" b="1" dirty="0">
                <a:latin typeface="Arial"/>
                <a:cs typeface="Arial"/>
              </a:rPr>
              <a:t>Output:</a:t>
            </a:r>
            <a:endParaRPr lang="en-US" sz="2200" dirty="0"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0070C0"/>
                </a:solidFill>
                <a:latin typeface="+mj-lt"/>
                <a:cs typeface="Arial"/>
              </a:rPr>
              <a:t>Not found </a:t>
            </a:r>
            <a:endParaRPr lang="en-US" dirty="0">
              <a:solidFill>
                <a:srgbClr val="0070C0"/>
              </a:solidFill>
              <a:latin typeface="+mj-lt"/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7C0AFF-F468-BF2F-8EAD-7A03C318C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Dictionary Methods</a:t>
            </a:r>
          </a:p>
        </p:txBody>
      </p:sp>
    </p:spTree>
    <p:extLst>
      <p:ext uri="{BB962C8B-B14F-4D97-AF65-F5344CB8AC3E}">
        <p14:creationId xmlns:p14="http://schemas.microsoft.com/office/powerpoint/2010/main" val="3495376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83C97468-D5ED-0D28-AB05-9DAA42D95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5D2A3F-C594-5BDE-32B2-6BF62249415D}"/>
              </a:ext>
            </a:extLst>
          </p:cNvPr>
          <p:cNvSpPr txBox="1"/>
          <p:nvPr/>
        </p:nvSpPr>
        <p:spPr>
          <a:xfrm>
            <a:off x="472193" y="2333652"/>
            <a:ext cx="11317540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Syntax: 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FF0000"/>
                </a:solidFill>
                <a:latin typeface="Arial"/>
                <a:cs typeface="Arial"/>
              </a:rPr>
              <a:t>#</a:t>
            </a:r>
            <a:r>
              <a:rPr lang="en-US" sz="3200" dirty="0">
                <a:solidFill>
                  <a:srgbClr val="FF0000"/>
                </a:solidFill>
                <a:ea typeface="+mn-lt"/>
                <a:cs typeface="+mn-lt"/>
              </a:rPr>
              <a:t> keys(). Retrieves a list of all keys in the dictionary.</a:t>
            </a:r>
            <a:endParaRPr lang="en-US" sz="3200" dirty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AU" sz="3200" dirty="0">
                <a:ea typeface="+mn-lt"/>
                <a:cs typeface="+mn-lt"/>
              </a:rPr>
              <a:t>student = {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"name"</a:t>
            </a:r>
            <a:r>
              <a:rPr lang="en-AU" sz="3200" dirty="0">
                <a:ea typeface="+mn-lt"/>
                <a:cs typeface="+mn-lt"/>
              </a:rPr>
              <a:t>: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"Alex"</a:t>
            </a:r>
            <a:r>
              <a:rPr lang="en-AU" sz="3200" dirty="0">
                <a:ea typeface="+mn-lt"/>
                <a:cs typeface="+mn-lt"/>
              </a:rPr>
              <a:t>,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"age"</a:t>
            </a:r>
            <a:r>
              <a:rPr lang="en-AU" sz="3200" dirty="0">
                <a:ea typeface="+mn-lt"/>
                <a:cs typeface="+mn-lt"/>
              </a:rPr>
              <a:t>: 22}</a:t>
            </a:r>
          </a:p>
          <a:p>
            <a:r>
              <a:rPr lang="en-US" sz="3200" dirty="0">
                <a:ea typeface="+mn-lt"/>
                <a:cs typeface="+mn-lt"/>
              </a:rPr>
              <a:t>keys = </a:t>
            </a:r>
            <a:r>
              <a:rPr lang="en-US" sz="3200" dirty="0" err="1">
                <a:ea typeface="+mn-lt"/>
                <a:cs typeface="+mn-lt"/>
              </a:rPr>
              <a:t>student.keys</a:t>
            </a:r>
            <a:r>
              <a:rPr lang="en-US" sz="3200" dirty="0">
                <a:ea typeface="+mn-lt"/>
                <a:cs typeface="+mn-lt"/>
              </a:rPr>
              <a:t>()</a:t>
            </a:r>
            <a:br>
              <a:rPr lang="en-US" sz="3200" dirty="0">
                <a:ea typeface="+mn-lt"/>
                <a:cs typeface="+mn-lt"/>
              </a:rPr>
            </a:br>
            <a:r>
              <a:rPr lang="en-US" sz="3200" dirty="0">
                <a:solidFill>
                  <a:srgbClr val="F238D3"/>
                </a:solidFill>
                <a:ea typeface="+mn-lt"/>
                <a:cs typeface="+mn-lt"/>
              </a:rPr>
              <a:t>print</a:t>
            </a:r>
            <a:r>
              <a:rPr lang="en-US" sz="3200" dirty="0">
                <a:ea typeface="+mn-lt"/>
                <a:cs typeface="+mn-lt"/>
              </a:rPr>
              <a:t>(keys)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2200" dirty="0">
                <a:latin typeface="Arial"/>
                <a:cs typeface="Arial"/>
              </a:rPr>
              <a:t>
</a:t>
            </a:r>
            <a:r>
              <a:rPr lang="en-AU" sz="3200" b="1" dirty="0">
                <a:latin typeface="Arial"/>
                <a:cs typeface="Arial"/>
              </a:rPr>
              <a:t>Output:</a:t>
            </a:r>
            <a:endParaRPr lang="en-US" sz="2200" dirty="0">
              <a:latin typeface="Arial"/>
              <a:cs typeface="Arial"/>
            </a:endParaRPr>
          </a:p>
          <a:p>
            <a:r>
              <a:rPr lang="en-US" sz="3200" dirty="0" err="1">
                <a:solidFill>
                  <a:srgbClr val="0070C0"/>
                </a:solidFill>
                <a:latin typeface="+mj-lt"/>
                <a:cs typeface="Arial"/>
              </a:rPr>
              <a:t>dict_keys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Arial"/>
              </a:rPr>
              <a:t>(['name', 'age']) </a:t>
            </a:r>
            <a:endParaRPr lang="en-US" dirty="0">
              <a:solidFill>
                <a:srgbClr val="0070C0"/>
              </a:solidFill>
              <a:latin typeface="+mj-lt"/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954A9D-CDDD-8D41-AB05-07B02E0AB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Dictionary Methods</a:t>
            </a:r>
          </a:p>
        </p:txBody>
      </p:sp>
    </p:spTree>
    <p:extLst>
      <p:ext uri="{BB962C8B-B14F-4D97-AF65-F5344CB8AC3E}">
        <p14:creationId xmlns:p14="http://schemas.microsoft.com/office/powerpoint/2010/main" val="1771837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F4D30953-0BA6-5F2F-B478-529A9A08C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03767C-B972-0F7D-7E1F-55A20310B0A3}"/>
              </a:ext>
            </a:extLst>
          </p:cNvPr>
          <p:cNvSpPr txBox="1"/>
          <p:nvPr/>
        </p:nvSpPr>
        <p:spPr>
          <a:xfrm>
            <a:off x="472193" y="2263296"/>
            <a:ext cx="11579733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Syntax: 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FF0000"/>
                </a:solidFill>
                <a:latin typeface="Arial"/>
                <a:cs typeface="Arial"/>
              </a:rPr>
              <a:t>#</a:t>
            </a:r>
            <a:r>
              <a:rPr lang="en-US" sz="3200" dirty="0">
                <a:solidFill>
                  <a:srgbClr val="FF0000"/>
                </a:solidFill>
                <a:ea typeface="+mn-lt"/>
                <a:cs typeface="+mn-lt"/>
              </a:rPr>
              <a:t> values(). Retrieves a list of all values in the dictionary.</a:t>
            </a:r>
            <a:endParaRPr lang="en-US" sz="3200" dirty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AU" sz="3200" dirty="0">
                <a:ea typeface="+mn-lt"/>
                <a:cs typeface="+mn-lt"/>
              </a:rPr>
              <a:t>student = {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"name"</a:t>
            </a:r>
            <a:r>
              <a:rPr lang="en-AU" sz="3200" dirty="0">
                <a:ea typeface="+mn-lt"/>
                <a:cs typeface="+mn-lt"/>
              </a:rPr>
              <a:t>: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"Alex"</a:t>
            </a:r>
            <a:r>
              <a:rPr lang="en-AU" sz="3200" dirty="0">
                <a:ea typeface="+mn-lt"/>
                <a:cs typeface="+mn-lt"/>
              </a:rPr>
              <a:t>,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"age"</a:t>
            </a:r>
            <a:r>
              <a:rPr lang="en-AU" sz="3200" dirty="0">
                <a:ea typeface="+mn-lt"/>
                <a:cs typeface="+mn-lt"/>
              </a:rPr>
              <a:t>: 22}</a:t>
            </a:r>
          </a:p>
          <a:p>
            <a:r>
              <a:rPr lang="en-US" sz="3200" dirty="0">
                <a:ea typeface="+mn-lt"/>
                <a:cs typeface="+mn-lt"/>
              </a:rPr>
              <a:t>values = </a:t>
            </a:r>
            <a:r>
              <a:rPr lang="en-US" sz="3200" dirty="0" err="1">
                <a:ea typeface="+mn-lt"/>
                <a:cs typeface="+mn-lt"/>
              </a:rPr>
              <a:t>student.values</a:t>
            </a:r>
            <a:r>
              <a:rPr lang="en-US" sz="3200" dirty="0">
                <a:ea typeface="+mn-lt"/>
                <a:cs typeface="+mn-lt"/>
              </a:rPr>
              <a:t>()</a:t>
            </a:r>
            <a:br>
              <a:rPr lang="en-US" sz="3200" dirty="0">
                <a:ea typeface="+mn-lt"/>
                <a:cs typeface="+mn-lt"/>
              </a:rPr>
            </a:br>
            <a:r>
              <a:rPr lang="en-US" sz="3200" dirty="0">
                <a:solidFill>
                  <a:srgbClr val="F238D3"/>
                </a:solidFill>
                <a:ea typeface="+mn-lt"/>
                <a:cs typeface="+mn-lt"/>
              </a:rPr>
              <a:t>print</a:t>
            </a:r>
            <a:r>
              <a:rPr lang="en-US" sz="3200" dirty="0">
                <a:ea typeface="+mn-lt"/>
                <a:cs typeface="+mn-lt"/>
              </a:rPr>
              <a:t>(values)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3200" dirty="0">
                <a:latin typeface="Arial"/>
                <a:cs typeface="Arial"/>
              </a:rPr>
              <a:t>
</a:t>
            </a:r>
            <a:r>
              <a:rPr lang="en-AU" sz="3200" b="1" dirty="0">
                <a:latin typeface="Arial"/>
                <a:cs typeface="Arial"/>
              </a:rPr>
              <a:t>Output: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3200" dirty="0" err="1">
                <a:solidFill>
                  <a:srgbClr val="0070C0"/>
                </a:solidFill>
                <a:latin typeface="+mj-lt"/>
                <a:cs typeface="Arial"/>
              </a:rPr>
              <a:t>dict_values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Arial"/>
              </a:rPr>
              <a:t>(['Alex', '22']) 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CA2AA6-3511-5395-3362-1FEAD09EE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Dictionary Methods</a:t>
            </a:r>
          </a:p>
        </p:txBody>
      </p:sp>
    </p:spTree>
    <p:extLst>
      <p:ext uri="{BB962C8B-B14F-4D97-AF65-F5344CB8AC3E}">
        <p14:creationId xmlns:p14="http://schemas.microsoft.com/office/powerpoint/2010/main" val="1008387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036973C7-43BD-BD5B-E0F5-310948B8D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C141F4-B02A-61B3-B9FC-AAF33E993F34}"/>
              </a:ext>
            </a:extLst>
          </p:cNvPr>
          <p:cNvSpPr txBox="1"/>
          <p:nvPr/>
        </p:nvSpPr>
        <p:spPr>
          <a:xfrm>
            <a:off x="446315" y="2204255"/>
            <a:ext cx="11784571" cy="3847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Syntax: 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3000" dirty="0">
                <a:solidFill>
                  <a:srgbClr val="FF0000"/>
                </a:solidFill>
                <a:latin typeface="Arial"/>
                <a:cs typeface="Arial"/>
              </a:rPr>
              <a:t>#</a:t>
            </a:r>
            <a:r>
              <a:rPr lang="en-US" sz="3000" dirty="0">
                <a:solidFill>
                  <a:srgbClr val="FF0000"/>
                </a:solidFill>
                <a:ea typeface="+mn-lt"/>
                <a:cs typeface="+mn-lt"/>
              </a:rPr>
              <a:t> items(). Retrieves a list of all key-value pairs in the dictionary.</a:t>
            </a:r>
            <a:endParaRPr lang="en-US" sz="3000" dirty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AU" sz="3200" dirty="0">
                <a:ea typeface="+mn-lt"/>
                <a:cs typeface="+mn-lt"/>
              </a:rPr>
              <a:t>student = {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"name"</a:t>
            </a:r>
            <a:r>
              <a:rPr lang="en-AU" sz="3200" dirty="0">
                <a:ea typeface="+mn-lt"/>
                <a:cs typeface="+mn-lt"/>
              </a:rPr>
              <a:t>: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"Alex"</a:t>
            </a:r>
            <a:r>
              <a:rPr lang="en-AU" sz="3200" dirty="0">
                <a:ea typeface="+mn-lt"/>
                <a:cs typeface="+mn-lt"/>
              </a:rPr>
              <a:t>, </a:t>
            </a:r>
            <a:r>
              <a:rPr lang="en-AU" sz="3200" dirty="0">
                <a:solidFill>
                  <a:srgbClr val="00B050"/>
                </a:solidFill>
                <a:ea typeface="+mn-lt"/>
                <a:cs typeface="+mn-lt"/>
              </a:rPr>
              <a:t>"age"</a:t>
            </a:r>
            <a:r>
              <a:rPr lang="en-AU" sz="3200" dirty="0">
                <a:ea typeface="+mn-lt"/>
                <a:cs typeface="+mn-lt"/>
              </a:rPr>
              <a:t>: 22}</a:t>
            </a:r>
          </a:p>
          <a:p>
            <a:r>
              <a:rPr lang="en-US" sz="3200" dirty="0">
                <a:ea typeface="+mn-lt"/>
                <a:cs typeface="+mn-lt"/>
              </a:rPr>
              <a:t>items = </a:t>
            </a:r>
            <a:r>
              <a:rPr lang="en-US" sz="3200" dirty="0" err="1">
                <a:ea typeface="+mn-lt"/>
                <a:cs typeface="+mn-lt"/>
              </a:rPr>
              <a:t>student.items</a:t>
            </a:r>
            <a:r>
              <a:rPr lang="en-US" sz="3200" dirty="0">
                <a:ea typeface="+mn-lt"/>
                <a:cs typeface="+mn-lt"/>
              </a:rPr>
              <a:t>()</a:t>
            </a:r>
            <a:br>
              <a:rPr lang="en-US" sz="3200" dirty="0">
                <a:ea typeface="+mn-lt"/>
                <a:cs typeface="+mn-lt"/>
              </a:rPr>
            </a:br>
            <a:r>
              <a:rPr lang="en-US" sz="3200" dirty="0">
                <a:solidFill>
                  <a:srgbClr val="F238D3"/>
                </a:solidFill>
                <a:ea typeface="+mn-lt"/>
                <a:cs typeface="+mn-lt"/>
              </a:rPr>
              <a:t>print</a:t>
            </a:r>
            <a:r>
              <a:rPr lang="en-US" sz="3200" dirty="0">
                <a:ea typeface="+mn-lt"/>
                <a:cs typeface="+mn-lt"/>
              </a:rPr>
              <a:t>(items)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2200" dirty="0">
                <a:latin typeface="Arial"/>
                <a:cs typeface="Arial"/>
              </a:rPr>
              <a:t>
</a:t>
            </a:r>
            <a:r>
              <a:rPr lang="en-AU" sz="3200" b="1" dirty="0">
                <a:latin typeface="Arial"/>
                <a:cs typeface="Arial"/>
              </a:rPr>
              <a:t>Output:</a:t>
            </a:r>
            <a:endParaRPr lang="en-US" sz="2200" dirty="0">
              <a:latin typeface="Arial"/>
              <a:cs typeface="Arial"/>
            </a:endParaRPr>
          </a:p>
          <a:p>
            <a:r>
              <a:rPr lang="en-US" sz="3200" dirty="0" err="1">
                <a:solidFill>
                  <a:srgbClr val="0070C0"/>
                </a:solidFill>
                <a:latin typeface="+mj-lt"/>
                <a:cs typeface="Arial"/>
              </a:rPr>
              <a:t>dict_items</a:t>
            </a:r>
            <a:r>
              <a:rPr lang="en-US" sz="3200" dirty="0">
                <a:solidFill>
                  <a:srgbClr val="0070C0"/>
                </a:solidFill>
                <a:latin typeface="+mj-lt"/>
                <a:ea typeface="+mn-lt"/>
                <a:cs typeface="+mn-lt"/>
              </a:rPr>
              <a:t>([('name', 'Alex'), ('age', 21)])</a:t>
            </a:r>
            <a:r>
              <a:rPr lang="en-US" sz="3200" dirty="0">
                <a:solidFill>
                  <a:srgbClr val="0070C0"/>
                </a:solidFill>
                <a:latin typeface="+mj-lt"/>
                <a:cs typeface="Arial"/>
              </a:rPr>
              <a:t> </a:t>
            </a:r>
            <a:endParaRPr lang="en-US" dirty="0">
              <a:solidFill>
                <a:srgbClr val="0070C0"/>
              </a:solidFill>
              <a:latin typeface="+mj-lt"/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31B2322-DF3D-BE25-F6E4-36BAF8F77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Dictionary Methods</a:t>
            </a:r>
          </a:p>
        </p:txBody>
      </p:sp>
    </p:spTree>
    <p:extLst>
      <p:ext uri="{BB962C8B-B14F-4D97-AF65-F5344CB8AC3E}">
        <p14:creationId xmlns:p14="http://schemas.microsoft.com/office/powerpoint/2010/main" val="3939037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FCDDC553-AD7C-E9C2-BF7B-508F22ADA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E96E63-E608-D67D-12CC-4D0B95F64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922470"/>
              </p:ext>
            </p:extLst>
          </p:nvPr>
        </p:nvGraphicFramePr>
        <p:xfrm>
          <a:off x="518768" y="2246812"/>
          <a:ext cx="11170911" cy="3708158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510432">
                  <a:extLst>
                    <a:ext uri="{9D8B030D-6E8A-4147-A177-3AD203B41FA5}">
                      <a16:colId xmlns:a16="http://schemas.microsoft.com/office/drawing/2014/main" val="3620782138"/>
                    </a:ext>
                  </a:extLst>
                </a:gridCol>
                <a:gridCol w="6660479">
                  <a:extLst>
                    <a:ext uri="{9D8B030D-6E8A-4147-A177-3AD203B41FA5}">
                      <a16:colId xmlns:a16="http://schemas.microsoft.com/office/drawing/2014/main" val="2830698785"/>
                    </a:ext>
                  </a:extLst>
                </a:gridCol>
              </a:tblGrid>
              <a:tr h="55251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40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058396"/>
                  </a:ext>
                </a:extLst>
              </a:tr>
              <a:tr h="49596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2200" b="0" i="0" u="none" strike="noStrike" noProof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names= {</a:t>
                      </a:r>
                      <a:r>
                        <a:rPr lang="en-GB" sz="2200" b="0" i="0" u="none" strike="noStrike" noProof="0" dirty="0">
                          <a:solidFill>
                            <a:srgbClr val="00B050"/>
                          </a:solidFill>
                          <a:latin typeface="+mj-lt"/>
                        </a:rPr>
                        <a:t>"Charlotte": 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17, </a:t>
                      </a:r>
                      <a:r>
                        <a:rPr lang="en-GB" sz="2200" b="0" i="0" u="none" strike="noStrike" noProof="0" dirty="0">
                          <a:solidFill>
                            <a:srgbClr val="00B050"/>
                          </a:solidFill>
                          <a:latin typeface="+mj-lt"/>
                        </a:rPr>
                        <a:t>"</a:t>
                      </a:r>
                      <a:r>
                        <a:rPr lang="en-GB" sz="2200" b="0" i="0" u="none" strike="noStrike" kern="1200" noProof="0" dirty="0">
                          <a:solidFill>
                            <a:srgbClr val="00B050"/>
                          </a:solidFill>
                          <a:latin typeface="+mj-lt"/>
                          <a:ea typeface="+mn-ea"/>
                          <a:cs typeface="+mn-cs"/>
                        </a:rPr>
                        <a:t>Olivia</a:t>
                      </a:r>
                      <a:r>
                        <a:rPr lang="en-GB" sz="2200" b="0" i="0" u="none" strike="noStrike" noProof="0" dirty="0">
                          <a:solidFill>
                            <a:srgbClr val="00B050"/>
                          </a:solidFill>
                          <a:latin typeface="+mj-lt"/>
                        </a:rPr>
                        <a:t>"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: 19,</a:t>
                      </a:r>
                      <a:r>
                        <a:rPr lang="en-GB" sz="2200" b="0" i="0" u="none" strike="noStrike" noProof="0" dirty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en-GB" sz="2200" b="0" i="0" u="none" strike="noStrike" noProof="0" dirty="0">
                          <a:solidFill>
                            <a:srgbClr val="00B050"/>
                          </a:solidFill>
                          <a:latin typeface="+mj-lt"/>
                        </a:rPr>
                        <a:t>"</a:t>
                      </a:r>
                      <a:r>
                        <a:rPr lang="en-GB" sz="2200" b="0" i="0" u="none" strike="noStrike" kern="1200" noProof="0" dirty="0">
                          <a:solidFill>
                            <a:srgbClr val="00B050"/>
                          </a:solidFill>
                          <a:latin typeface="+mj-lt"/>
                          <a:ea typeface="+mn-ea"/>
                          <a:cs typeface="+mn-cs"/>
                        </a:rPr>
                        <a:t>Alex</a:t>
                      </a:r>
                      <a:r>
                        <a:rPr lang="en-GB" sz="2200" b="0" i="0" u="none" strike="noStrike" noProof="0" dirty="0">
                          <a:solidFill>
                            <a:srgbClr val="00B050"/>
                          </a:solidFill>
                          <a:latin typeface="+mj-lt"/>
                        </a:rPr>
                        <a:t>"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: 22}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96912"/>
                  </a:ext>
                </a:extLst>
              </a:tr>
              <a:tr h="39001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>
                          <a:solidFill>
                            <a:srgbClr val="000000"/>
                          </a:solidFill>
                          <a:latin typeface="+mj-lt"/>
                        </a:rPr>
                        <a:t>Loop over keys and values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>
                          <a:solidFill>
                            <a:schemeClr val="accent6"/>
                          </a:solidFill>
                          <a:latin typeface="+mj-lt"/>
                        </a:rPr>
                        <a:t>for 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name</a:t>
                      </a:r>
                      <a:r>
                        <a:rPr lang="en-GB" sz="2200" b="0" i="0" u="none" strike="noStrike" noProof="0" dirty="0">
                          <a:solidFill>
                            <a:schemeClr val="accent6"/>
                          </a:solidFill>
                          <a:latin typeface="+mj-lt"/>
                        </a:rPr>
                        <a:t> in 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names:</a:t>
                      </a:r>
                      <a:endParaRPr lang="en-US" dirty="0">
                        <a:latin typeface="+mj-l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     </a:t>
                      </a:r>
                      <a:r>
                        <a:rPr lang="en-GB" sz="2200" b="0" i="0" u="none" strike="noStrike" noProof="0" dirty="0">
                          <a:solidFill>
                            <a:srgbClr val="F238D3"/>
                          </a:solidFill>
                          <a:latin typeface="+mj-lt"/>
                        </a:rPr>
                        <a:t>print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(name, names[name])</a:t>
                      </a:r>
                      <a:endParaRPr lang="en-GB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747949"/>
                  </a:ext>
                </a:extLst>
              </a:tr>
              <a:tr h="40626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>
                          <a:solidFill>
                            <a:srgbClr val="000000"/>
                          </a:solidFill>
                          <a:latin typeface="+mj-lt"/>
                        </a:rPr>
                        <a:t>Printing the key-value pairs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kern="1200" noProof="0" dirty="0">
                          <a:solidFill>
                            <a:srgbClr val="F238D3"/>
                          </a:solidFill>
                          <a:latin typeface="+mj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(</a:t>
                      </a:r>
                      <a:r>
                        <a:rPr lang="en-GB" sz="2200" b="0" i="0" u="none" strike="noStrike" noProof="0" dirty="0" err="1">
                          <a:solidFill>
                            <a:schemeClr val="tx1"/>
                          </a:solidFill>
                          <a:latin typeface="+mj-lt"/>
                        </a:rPr>
                        <a:t>names.items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())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467445"/>
                  </a:ext>
                </a:extLst>
              </a:tr>
              <a:tr h="39001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>
                          <a:solidFill>
                            <a:srgbClr val="000000"/>
                          </a:solidFill>
                          <a:latin typeface="+mj-lt"/>
                        </a:rPr>
                        <a:t>Printing a list of keys</a:t>
                      </a:r>
                      <a:endParaRPr lang="en-US" sz="2200" b="0" i="0" u="none" strike="noStrike" noProof="0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kern="1200" noProof="0" dirty="0">
                          <a:solidFill>
                            <a:srgbClr val="F238D3"/>
                          </a:solidFill>
                          <a:latin typeface="+mj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(</a:t>
                      </a:r>
                      <a:r>
                        <a:rPr lang="en-GB" sz="2200" b="0" i="0" u="none" strike="noStrike" noProof="0" err="1">
                          <a:solidFill>
                            <a:schemeClr val="tx1"/>
                          </a:solidFill>
                          <a:latin typeface="+mj-lt"/>
                        </a:rPr>
                        <a:t>names.keys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())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533522"/>
                  </a:ext>
                </a:extLst>
              </a:tr>
              <a:tr h="39001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>
                          <a:solidFill>
                            <a:srgbClr val="000000"/>
                          </a:solidFill>
                          <a:latin typeface="+mj-lt"/>
                        </a:rPr>
                        <a:t>Printing a list of values</a:t>
                      </a:r>
                      <a:endParaRPr lang="en-GB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kern="1200" noProof="0" dirty="0">
                          <a:solidFill>
                            <a:srgbClr val="F238D3"/>
                          </a:solidFill>
                          <a:latin typeface="+mj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(list(names))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051993"/>
                  </a:ext>
                </a:extLst>
              </a:tr>
              <a:tr h="61751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noProof="0" dirty="0">
                          <a:solidFill>
                            <a:srgbClr val="000000"/>
                          </a:solidFill>
                          <a:latin typeface="+mj-lt"/>
                        </a:rPr>
                        <a:t>Printing the values of all the keys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 b="0" i="0" u="none" strike="noStrike" kern="1200" noProof="0" dirty="0">
                          <a:solidFill>
                            <a:srgbClr val="F238D3"/>
                          </a:solidFill>
                          <a:latin typeface="+mj-lt"/>
                          <a:ea typeface="+mn-ea"/>
                          <a:cs typeface="+mn-cs"/>
                        </a:rPr>
                        <a:t>print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(</a:t>
                      </a:r>
                      <a:r>
                        <a:rPr lang="en-GB" sz="2200" b="0" i="0" u="none" strike="noStrike" noProof="0" dirty="0" err="1">
                          <a:solidFill>
                            <a:schemeClr val="tx1"/>
                          </a:solidFill>
                          <a:latin typeface="+mj-lt"/>
                        </a:rPr>
                        <a:t>names.values</a:t>
                      </a:r>
                      <a:r>
                        <a:rPr lang="en-GB" sz="2200" b="0" i="0" u="none" strike="noStrike" noProof="0" dirty="0">
                          <a:solidFill>
                            <a:schemeClr val="tx1"/>
                          </a:solidFill>
                          <a:latin typeface="+mj-lt"/>
                        </a:rPr>
                        <a:t>())</a:t>
                      </a:r>
                      <a:endParaRPr lang="en-US" dirty="0">
                        <a:latin typeface="+mj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62550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226ACAB-6701-2C33-1BF2-17B3E690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4200" dirty="0"/>
              <a:t>Dictionary  Methods</a:t>
            </a:r>
          </a:p>
        </p:txBody>
      </p:sp>
    </p:spTree>
    <p:extLst>
      <p:ext uri="{BB962C8B-B14F-4D97-AF65-F5344CB8AC3E}">
        <p14:creationId xmlns:p14="http://schemas.microsoft.com/office/powerpoint/2010/main" val="22790113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35DEE6D6-C7F8-69ED-7207-A986C7E66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CA145-C02A-25C0-2F24-A814F6F214E1}"/>
              </a:ext>
            </a:extLst>
          </p:cNvPr>
          <p:cNvSpPr txBox="1"/>
          <p:nvPr/>
        </p:nvSpPr>
        <p:spPr>
          <a:xfrm>
            <a:off x="446315" y="2096503"/>
            <a:ext cx="11784571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Syntax: 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3000" dirty="0">
                <a:solidFill>
                  <a:srgbClr val="FF0000"/>
                </a:solidFill>
                <a:latin typeface="Arial"/>
                <a:cs typeface="Arial"/>
              </a:rPr>
              <a:t>#</a:t>
            </a:r>
            <a:r>
              <a:rPr lang="en-US" sz="3000" dirty="0">
                <a:solidFill>
                  <a:srgbClr val="FF0000"/>
                </a:solidFill>
                <a:ea typeface="+mn-lt"/>
                <a:cs typeface="+mn-lt"/>
              </a:rPr>
              <a:t> Loop through the keys of a dictionary.</a:t>
            </a:r>
            <a:endParaRPr lang="en-US" sz="3000" dirty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sz="3200" dirty="0">
                <a:ea typeface="+mn-lt"/>
                <a:cs typeface="+mn-lt"/>
              </a:rPr>
              <a:t>student = {</a:t>
            </a:r>
            <a:r>
              <a:rPr lang="en-US" sz="3200" dirty="0">
                <a:solidFill>
                  <a:srgbClr val="00B050"/>
                </a:solidFill>
                <a:ea typeface="+mn-lt"/>
                <a:cs typeface="+mn-lt"/>
              </a:rPr>
              <a:t>"name"</a:t>
            </a:r>
            <a:r>
              <a:rPr lang="en-US" sz="3200" dirty="0">
                <a:ea typeface="+mn-lt"/>
                <a:cs typeface="+mn-lt"/>
              </a:rPr>
              <a:t>: </a:t>
            </a:r>
            <a:r>
              <a:rPr lang="en-US" sz="3200" dirty="0">
                <a:solidFill>
                  <a:srgbClr val="00B050"/>
                </a:solidFill>
                <a:ea typeface="+mn-lt"/>
                <a:cs typeface="+mn-lt"/>
              </a:rPr>
              <a:t>"Alex"</a:t>
            </a:r>
            <a:r>
              <a:rPr lang="en-US" sz="3200" dirty="0">
                <a:ea typeface="+mn-lt"/>
                <a:cs typeface="+mn-lt"/>
              </a:rPr>
              <a:t>, </a:t>
            </a:r>
            <a:r>
              <a:rPr lang="en-US" sz="3200" dirty="0">
                <a:solidFill>
                  <a:srgbClr val="00B050"/>
                </a:solidFill>
                <a:ea typeface="+mn-lt"/>
                <a:cs typeface="+mn-lt"/>
              </a:rPr>
              <a:t>"age"</a:t>
            </a:r>
            <a:r>
              <a:rPr lang="en-US" sz="3200" dirty="0">
                <a:ea typeface="+mn-lt"/>
                <a:cs typeface="+mn-lt"/>
              </a:rPr>
              <a:t>: 22}</a:t>
            </a:r>
            <a:endParaRPr lang="en-US" dirty="0">
              <a:cs typeface="Arial"/>
            </a:endParaRPr>
          </a:p>
          <a:p>
            <a:r>
              <a:rPr lang="en-US" sz="3200" dirty="0">
                <a:solidFill>
                  <a:srgbClr val="FF9900"/>
                </a:solidFill>
                <a:ea typeface="+mn-lt"/>
                <a:cs typeface="+mn-lt"/>
              </a:rPr>
              <a:t>for</a:t>
            </a:r>
            <a:r>
              <a:rPr lang="en-US" sz="3200" dirty="0">
                <a:ea typeface="+mn-lt"/>
                <a:cs typeface="+mn-lt"/>
              </a:rPr>
              <a:t> key </a:t>
            </a:r>
            <a:r>
              <a:rPr lang="en-US" sz="3200" dirty="0">
                <a:solidFill>
                  <a:srgbClr val="FF9900"/>
                </a:solidFill>
                <a:ea typeface="+mn-lt"/>
                <a:cs typeface="+mn-lt"/>
              </a:rPr>
              <a:t>in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student.keys</a:t>
            </a:r>
            <a:r>
              <a:rPr lang="en-US" sz="3200" dirty="0">
                <a:ea typeface="+mn-lt"/>
                <a:cs typeface="+mn-lt"/>
              </a:rPr>
              <a:t>():</a:t>
            </a:r>
            <a:br>
              <a:rPr lang="en-US" sz="3200" dirty="0">
                <a:ea typeface="+mn-lt"/>
                <a:cs typeface="+mn-lt"/>
              </a:rPr>
            </a:br>
            <a:r>
              <a:rPr lang="en-US" sz="3200" dirty="0">
                <a:ea typeface="+mn-lt"/>
                <a:cs typeface="+mn-lt"/>
              </a:rPr>
              <a:t>     </a:t>
            </a:r>
            <a:r>
              <a:rPr lang="en-US" sz="3200" dirty="0">
                <a:solidFill>
                  <a:srgbClr val="F238D3"/>
                </a:solidFill>
                <a:ea typeface="+mn-lt"/>
                <a:cs typeface="+mn-lt"/>
              </a:rPr>
              <a:t>print</a:t>
            </a:r>
            <a:r>
              <a:rPr lang="en-US" sz="3200" dirty="0">
                <a:ea typeface="+mn-lt"/>
                <a:cs typeface="+mn-lt"/>
              </a:rPr>
              <a:t>(key)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2200" dirty="0">
                <a:latin typeface="Arial"/>
                <a:cs typeface="Arial"/>
              </a:rPr>
              <a:t>
</a:t>
            </a:r>
            <a:r>
              <a:rPr lang="en-AU" sz="3200" b="1" dirty="0">
                <a:latin typeface="Arial"/>
                <a:cs typeface="Arial"/>
              </a:rPr>
              <a:t>Output:</a:t>
            </a:r>
            <a:endParaRPr lang="en-US" sz="2200" dirty="0"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0070C0"/>
                </a:solidFill>
                <a:latin typeface="+mj-lt"/>
                <a:cs typeface="Arial"/>
              </a:rPr>
              <a:t>name</a:t>
            </a:r>
            <a:endParaRPr lang="en-US" dirty="0">
              <a:solidFill>
                <a:srgbClr val="0070C0"/>
              </a:solidFill>
              <a:latin typeface="+mj-lt"/>
              <a:cs typeface="Arial"/>
            </a:endParaRPr>
          </a:p>
          <a:p>
            <a:r>
              <a:rPr lang="en-US" sz="3200" dirty="0">
                <a:solidFill>
                  <a:srgbClr val="0070C0"/>
                </a:solidFill>
                <a:latin typeface="+mj-lt"/>
                <a:cs typeface="Arial"/>
              </a:rPr>
              <a:t>age </a:t>
            </a:r>
            <a:endParaRPr lang="en-US" dirty="0">
              <a:solidFill>
                <a:srgbClr val="0070C0"/>
              </a:solidFill>
              <a:latin typeface="+mj-lt"/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CBF6E72-B06B-D3E0-C934-931520DA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4200" dirty="0"/>
              <a:t>Iterating through Dictionaries</a:t>
            </a:r>
          </a:p>
        </p:txBody>
      </p:sp>
    </p:spTree>
    <p:extLst>
      <p:ext uri="{BB962C8B-B14F-4D97-AF65-F5344CB8AC3E}">
        <p14:creationId xmlns:p14="http://schemas.microsoft.com/office/powerpoint/2010/main" val="25130662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30A21A8E-0A65-9F7F-50A6-436E6AC4D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04D00F-E5B1-E380-01F5-0DFBE96CEEA8}"/>
              </a:ext>
            </a:extLst>
          </p:cNvPr>
          <p:cNvSpPr txBox="1"/>
          <p:nvPr/>
        </p:nvSpPr>
        <p:spPr>
          <a:xfrm>
            <a:off x="446315" y="2086419"/>
            <a:ext cx="11784571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Syntax: 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3000" dirty="0">
                <a:solidFill>
                  <a:srgbClr val="FF0000"/>
                </a:solidFill>
                <a:latin typeface="Arial"/>
                <a:cs typeface="Arial"/>
              </a:rPr>
              <a:t>#</a:t>
            </a:r>
            <a:r>
              <a:rPr lang="en-US" sz="3000" dirty="0">
                <a:solidFill>
                  <a:srgbClr val="FF0000"/>
                </a:solidFill>
                <a:ea typeface="+mn-lt"/>
                <a:cs typeface="+mn-lt"/>
              </a:rPr>
              <a:t> Loop through the values of a dictionary.</a:t>
            </a:r>
            <a:endParaRPr lang="en-US" sz="3000" dirty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sz="3200" dirty="0">
                <a:ea typeface="+mn-lt"/>
                <a:cs typeface="+mn-lt"/>
              </a:rPr>
              <a:t>student = {</a:t>
            </a:r>
            <a:r>
              <a:rPr lang="en-US" sz="3200" dirty="0">
                <a:solidFill>
                  <a:srgbClr val="00B050"/>
                </a:solidFill>
                <a:ea typeface="+mn-lt"/>
                <a:cs typeface="+mn-lt"/>
              </a:rPr>
              <a:t>"name"</a:t>
            </a:r>
            <a:r>
              <a:rPr lang="en-US" sz="3200" dirty="0">
                <a:ea typeface="+mn-lt"/>
                <a:cs typeface="+mn-lt"/>
              </a:rPr>
              <a:t>: </a:t>
            </a:r>
            <a:r>
              <a:rPr lang="en-US" sz="3200" dirty="0">
                <a:solidFill>
                  <a:srgbClr val="00B050"/>
                </a:solidFill>
                <a:ea typeface="+mn-lt"/>
                <a:cs typeface="+mn-lt"/>
              </a:rPr>
              <a:t>"Alex"</a:t>
            </a:r>
            <a:r>
              <a:rPr lang="en-US" sz="3200" dirty="0">
                <a:ea typeface="+mn-lt"/>
                <a:cs typeface="+mn-lt"/>
              </a:rPr>
              <a:t>, </a:t>
            </a:r>
            <a:r>
              <a:rPr lang="en-US" sz="3200" dirty="0">
                <a:solidFill>
                  <a:srgbClr val="00B050"/>
                </a:solidFill>
                <a:ea typeface="+mn-lt"/>
                <a:cs typeface="+mn-lt"/>
              </a:rPr>
              <a:t>"age"</a:t>
            </a:r>
            <a:r>
              <a:rPr lang="en-US" sz="3200" dirty="0">
                <a:ea typeface="+mn-lt"/>
                <a:cs typeface="+mn-lt"/>
              </a:rPr>
              <a:t>: 22}</a:t>
            </a:r>
          </a:p>
          <a:p>
            <a:r>
              <a:rPr lang="en-US" sz="3200" dirty="0">
                <a:solidFill>
                  <a:srgbClr val="FF9900"/>
                </a:solidFill>
                <a:ea typeface="+mn-lt"/>
                <a:cs typeface="+mn-lt"/>
              </a:rPr>
              <a:t>for</a:t>
            </a:r>
            <a:r>
              <a:rPr lang="en-US" sz="3200" dirty="0">
                <a:ea typeface="+mn-lt"/>
                <a:cs typeface="+mn-lt"/>
              </a:rPr>
              <a:t> value </a:t>
            </a:r>
            <a:r>
              <a:rPr lang="en-US" sz="3200" dirty="0">
                <a:solidFill>
                  <a:srgbClr val="FF9900"/>
                </a:solidFill>
                <a:ea typeface="+mn-lt"/>
                <a:cs typeface="+mn-lt"/>
              </a:rPr>
              <a:t>in</a:t>
            </a:r>
            <a:r>
              <a:rPr lang="en-US" sz="3200" dirty="0">
                <a:ea typeface="+mn-lt"/>
                <a:cs typeface="+mn-lt"/>
              </a:rPr>
              <a:t> </a:t>
            </a:r>
            <a:r>
              <a:rPr lang="en-US" sz="3200" dirty="0" err="1">
                <a:ea typeface="+mn-lt"/>
                <a:cs typeface="+mn-lt"/>
              </a:rPr>
              <a:t>student.values</a:t>
            </a:r>
            <a:r>
              <a:rPr lang="en-US" sz="3200" dirty="0">
                <a:ea typeface="+mn-lt"/>
                <a:cs typeface="+mn-lt"/>
              </a:rPr>
              <a:t>():</a:t>
            </a:r>
            <a:br>
              <a:rPr lang="en-US" sz="3200" dirty="0">
                <a:ea typeface="+mn-lt"/>
                <a:cs typeface="+mn-lt"/>
              </a:rPr>
            </a:br>
            <a:r>
              <a:rPr lang="en-US" sz="3200" dirty="0">
                <a:ea typeface="+mn-lt"/>
                <a:cs typeface="+mn-lt"/>
              </a:rPr>
              <a:t>      </a:t>
            </a:r>
            <a:r>
              <a:rPr lang="en-US" sz="3200" dirty="0">
                <a:solidFill>
                  <a:srgbClr val="F238D3"/>
                </a:solidFill>
                <a:ea typeface="+mn-lt"/>
                <a:cs typeface="+mn-lt"/>
              </a:rPr>
              <a:t>print</a:t>
            </a:r>
            <a:r>
              <a:rPr lang="en-US" sz="3200" dirty="0">
                <a:ea typeface="+mn-lt"/>
                <a:cs typeface="+mn-lt"/>
              </a:rPr>
              <a:t>(value)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2200" dirty="0">
                <a:latin typeface="Arial"/>
                <a:cs typeface="Arial"/>
              </a:rPr>
              <a:t>
</a:t>
            </a:r>
            <a:r>
              <a:rPr lang="en-AU" sz="3200" b="1" dirty="0">
                <a:latin typeface="Arial"/>
                <a:cs typeface="Arial"/>
              </a:rPr>
              <a:t>Output:</a:t>
            </a:r>
            <a:endParaRPr lang="en-US" sz="2200" dirty="0"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0070C0"/>
                </a:solidFill>
                <a:latin typeface="Arial"/>
                <a:cs typeface="Arial"/>
              </a:rPr>
              <a:t>Alex</a:t>
            </a:r>
            <a:endParaRPr lang="en-US" dirty="0">
              <a:solidFill>
                <a:srgbClr val="0070C0"/>
              </a:solidFill>
              <a:latin typeface="Arial"/>
              <a:cs typeface="Arial"/>
            </a:endParaRPr>
          </a:p>
          <a:p>
            <a:r>
              <a:rPr lang="en-US" sz="3200" dirty="0">
                <a:solidFill>
                  <a:srgbClr val="0070C0"/>
                </a:solidFill>
                <a:cs typeface="Arial"/>
              </a:rPr>
              <a:t>22 </a:t>
            </a:r>
            <a:endParaRPr lang="en-US" dirty="0">
              <a:solidFill>
                <a:srgbClr val="0070C0"/>
              </a:solidFill>
              <a:cs typeface="Arial"/>
            </a:endParaRPr>
          </a:p>
        </p:txBody>
      </p:sp>
      <p:pic>
        <p:nvPicPr>
          <p:cNvPr id="4" name="Picture 3" descr="A cartoon of a snake&#10;&#10;Description automatically generated">
            <a:extLst>
              <a:ext uri="{FF2B5EF4-FFF2-40B4-BE49-F238E27FC236}">
                <a16:creationId xmlns:a16="http://schemas.microsoft.com/office/drawing/2014/main" id="{18A04462-ED32-1DEF-9818-B0E0E0B9E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565037" y="2007152"/>
            <a:ext cx="5626963" cy="441891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FA6EA17-A59B-A630-DC84-29E70D411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4200" dirty="0"/>
              <a:t>Iterating through Dictionaries</a:t>
            </a:r>
          </a:p>
        </p:txBody>
      </p:sp>
    </p:spTree>
    <p:extLst>
      <p:ext uri="{BB962C8B-B14F-4D97-AF65-F5344CB8AC3E}">
        <p14:creationId xmlns:p14="http://schemas.microsoft.com/office/powerpoint/2010/main" val="1153582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>
          <a:extLst>
            <a:ext uri="{FF2B5EF4-FFF2-40B4-BE49-F238E27FC236}">
              <a16:creationId xmlns:a16="http://schemas.microsoft.com/office/drawing/2014/main" id="{26411069-1695-3572-E23D-63E613FCD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FB797E-B7C2-1D4B-9D9A-CFD7AC8162F8}"/>
              </a:ext>
            </a:extLst>
          </p:cNvPr>
          <p:cNvSpPr txBox="1"/>
          <p:nvPr/>
        </p:nvSpPr>
        <p:spPr>
          <a:xfrm>
            <a:off x="446315" y="2047647"/>
            <a:ext cx="11784571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AU" sz="3200" b="1" dirty="0">
                <a:latin typeface="Arial"/>
                <a:cs typeface="Arial"/>
              </a:rPr>
              <a:t>Syntax: </a:t>
            </a:r>
            <a:endParaRPr lang="en-US" sz="3200" dirty="0">
              <a:latin typeface="Arial"/>
              <a:cs typeface="Arial"/>
            </a:endParaRPr>
          </a:p>
          <a:p>
            <a:r>
              <a:rPr lang="en-US" sz="3000" dirty="0">
                <a:solidFill>
                  <a:srgbClr val="FF0000"/>
                </a:solidFill>
                <a:latin typeface="Arial"/>
                <a:cs typeface="Arial"/>
              </a:rPr>
              <a:t>#</a:t>
            </a:r>
            <a:r>
              <a:rPr lang="en-US" sz="3000" dirty="0">
                <a:solidFill>
                  <a:srgbClr val="FF0000"/>
                </a:solidFill>
                <a:ea typeface="+mn-lt"/>
                <a:cs typeface="+mn-lt"/>
              </a:rPr>
              <a:t> Loop through key-value pairs using the items() method.</a:t>
            </a:r>
            <a:endParaRPr lang="en-US" sz="3000" dirty="0">
              <a:solidFill>
                <a:srgbClr val="FF0000"/>
              </a:solidFill>
              <a:latin typeface="Arial"/>
              <a:cs typeface="Arial"/>
            </a:endParaRPr>
          </a:p>
          <a:p>
            <a:r>
              <a:rPr lang="en-US" sz="3000" dirty="0">
                <a:ea typeface="+mn-lt"/>
                <a:cs typeface="+mn-lt"/>
              </a:rPr>
              <a:t>student = {</a:t>
            </a:r>
            <a:r>
              <a:rPr lang="en-US" sz="3000" dirty="0">
                <a:solidFill>
                  <a:srgbClr val="00B050"/>
                </a:solidFill>
                <a:ea typeface="+mn-lt"/>
                <a:cs typeface="+mn-lt"/>
              </a:rPr>
              <a:t>"name"</a:t>
            </a:r>
            <a:r>
              <a:rPr lang="en-US" sz="3000" dirty="0">
                <a:ea typeface="+mn-lt"/>
                <a:cs typeface="+mn-lt"/>
              </a:rPr>
              <a:t>: </a:t>
            </a:r>
            <a:r>
              <a:rPr lang="en-US" sz="3000" dirty="0">
                <a:solidFill>
                  <a:srgbClr val="00B050"/>
                </a:solidFill>
                <a:ea typeface="+mn-lt"/>
                <a:cs typeface="+mn-lt"/>
              </a:rPr>
              <a:t>"Alex"</a:t>
            </a:r>
            <a:r>
              <a:rPr lang="en-US" sz="3000" dirty="0">
                <a:ea typeface="+mn-lt"/>
                <a:cs typeface="+mn-lt"/>
              </a:rPr>
              <a:t>, </a:t>
            </a:r>
            <a:r>
              <a:rPr lang="en-US" sz="3000" dirty="0">
                <a:solidFill>
                  <a:srgbClr val="00B050"/>
                </a:solidFill>
                <a:ea typeface="+mn-lt"/>
                <a:cs typeface="+mn-lt"/>
              </a:rPr>
              <a:t>"age"</a:t>
            </a:r>
            <a:r>
              <a:rPr lang="en-US" sz="3000" dirty="0">
                <a:ea typeface="+mn-lt"/>
                <a:cs typeface="+mn-lt"/>
              </a:rPr>
              <a:t>: 22}</a:t>
            </a:r>
          </a:p>
          <a:p>
            <a:r>
              <a:rPr lang="en-US" sz="3000" dirty="0">
                <a:solidFill>
                  <a:srgbClr val="FF9900"/>
                </a:solidFill>
                <a:ea typeface="+mn-lt"/>
                <a:cs typeface="+mn-lt"/>
              </a:rPr>
              <a:t>for</a:t>
            </a:r>
            <a:r>
              <a:rPr lang="en-US" sz="3000" dirty="0">
                <a:ea typeface="+mn-lt"/>
                <a:cs typeface="+mn-lt"/>
              </a:rPr>
              <a:t> key, value </a:t>
            </a:r>
            <a:r>
              <a:rPr lang="en-US" sz="3000" dirty="0">
                <a:solidFill>
                  <a:srgbClr val="FF9900"/>
                </a:solidFill>
                <a:ea typeface="+mn-lt"/>
                <a:cs typeface="+mn-lt"/>
              </a:rPr>
              <a:t>in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student.items</a:t>
            </a:r>
            <a:r>
              <a:rPr lang="en-US" sz="3000" dirty="0">
                <a:ea typeface="+mn-lt"/>
                <a:cs typeface="+mn-lt"/>
              </a:rPr>
              <a:t>():</a:t>
            </a:r>
            <a:br>
              <a:rPr lang="en-US" sz="3000" dirty="0">
                <a:ea typeface="+mn-lt"/>
                <a:cs typeface="+mn-lt"/>
              </a:rPr>
            </a:br>
            <a:r>
              <a:rPr lang="en-US" sz="3000" dirty="0">
                <a:solidFill>
                  <a:srgbClr val="F238D3"/>
                </a:solidFill>
                <a:ea typeface="+mn-lt"/>
                <a:cs typeface="+mn-lt"/>
              </a:rPr>
              <a:t>     print</a:t>
            </a:r>
            <a:r>
              <a:rPr lang="en-US" sz="3000" dirty="0">
                <a:ea typeface="+mn-lt"/>
                <a:cs typeface="+mn-lt"/>
              </a:rPr>
              <a:t>(key, value)</a:t>
            </a:r>
            <a:endParaRPr lang="en-US" sz="3000" dirty="0">
              <a:latin typeface="Arial"/>
              <a:cs typeface="Arial"/>
            </a:endParaRPr>
          </a:p>
          <a:p>
            <a:r>
              <a:rPr lang="en-US" sz="3000" dirty="0">
                <a:latin typeface="Arial"/>
                <a:cs typeface="Arial"/>
              </a:rPr>
              <a:t>
</a:t>
            </a:r>
            <a:r>
              <a:rPr lang="en-AU" sz="3000" b="1" dirty="0">
                <a:latin typeface="Arial"/>
                <a:cs typeface="Arial"/>
              </a:rPr>
              <a:t>Output:</a:t>
            </a:r>
            <a:endParaRPr lang="en-US" sz="3000" dirty="0">
              <a:latin typeface="Arial"/>
              <a:cs typeface="Arial"/>
            </a:endParaRPr>
          </a:p>
          <a:p>
            <a:r>
              <a:rPr lang="en-US" sz="3000" dirty="0">
                <a:solidFill>
                  <a:srgbClr val="0070C0"/>
                </a:solidFill>
                <a:latin typeface="+mj-lt"/>
                <a:cs typeface="Arial"/>
              </a:rPr>
              <a:t>name Alex</a:t>
            </a:r>
          </a:p>
          <a:p>
            <a:r>
              <a:rPr lang="en-US" sz="3000" dirty="0">
                <a:solidFill>
                  <a:srgbClr val="0070C0"/>
                </a:solidFill>
                <a:latin typeface="+mj-lt"/>
                <a:cs typeface="Arial"/>
              </a:rPr>
              <a:t>age 22 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6161C8-AB4F-42BF-0271-4B896359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AU" sz="4200" dirty="0"/>
              <a:t>Iterating through Dictionaries</a:t>
            </a:r>
          </a:p>
        </p:txBody>
      </p:sp>
    </p:spTree>
    <p:extLst>
      <p:ext uri="{BB962C8B-B14F-4D97-AF65-F5344CB8AC3E}">
        <p14:creationId xmlns:p14="http://schemas.microsoft.com/office/powerpoint/2010/main" val="457917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392A33-E8CA-C0CC-BDE6-AF06994F9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389" y="0"/>
            <a:ext cx="4548290" cy="67013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C82389-CA14-103D-B6FD-756479EAB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099" y="0"/>
            <a:ext cx="4548290" cy="67013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1E18C5-8438-7397-2BC7-E0240B7FA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48290" cy="67013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20C2A7-CF6E-7A7E-181D-1F493AF6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7200" dirty="0">
                <a:solidFill>
                  <a:schemeClr val="bg1"/>
                </a:solidFill>
              </a:rPr>
              <a:t>Oh noes!!!! MATH!!!!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44342-060E-CC17-AE01-859DB301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5" y="2249575"/>
            <a:ext cx="11299371" cy="15518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AU" dirty="0">
              <a:highlight>
                <a:srgbClr val="00FF00"/>
              </a:highlight>
            </a:endParaRP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2ED85-FB0D-674C-0697-07F21C105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41F46F4-8938-5C4A-A3E0-434D3C3588F4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5C052B-8930-50A5-DE48-1478D08A8303}"/>
              </a:ext>
            </a:extLst>
          </p:cNvPr>
          <p:cNvSpPr txBox="1"/>
          <p:nvPr/>
        </p:nvSpPr>
        <p:spPr>
          <a:xfrm>
            <a:off x="287260" y="5742388"/>
            <a:ext cx="106145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Image Source: https://resizing.flixster.com/wwVaSr-v1ywol32xq4H8R0tkNKE=/ems.cHJkLWVtcy1hc3NldHMvbW92aWVzLzlkMzAzN2VlLWYyMGYtNDU4ZC05NWE4LWQ2NTAyNzU4NmQ2Yy5qcGc=</a:t>
            </a:r>
          </a:p>
        </p:txBody>
      </p:sp>
    </p:spTree>
    <p:extLst>
      <p:ext uri="{BB962C8B-B14F-4D97-AF65-F5344CB8AC3E}">
        <p14:creationId xmlns:p14="http://schemas.microsoft.com/office/powerpoint/2010/main" val="3648180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FA389-1BE2-C910-A8C5-3E011B4A6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Revision: Data Series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3AEA-9B3E-A8DD-A23D-9A2AAE278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Mean</a:t>
            </a:r>
          </a:p>
          <a:p>
            <a:r>
              <a:rPr lang="en-AU" dirty="0"/>
              <a:t>Mode</a:t>
            </a:r>
          </a:p>
          <a:p>
            <a:r>
              <a:rPr lang="en-AU" dirty="0"/>
              <a:t>Median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5753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5E709-371B-4335-E101-60D83B2C3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Dispersion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892E7-EFE3-30A9-AF75-4AA270933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Range</a:t>
            </a:r>
          </a:p>
          <a:p>
            <a:r>
              <a:rPr lang="en-AU" dirty="0"/>
              <a:t>Inter-quartile range</a:t>
            </a:r>
          </a:p>
          <a:p>
            <a:r>
              <a:rPr lang="en-AU" dirty="0"/>
              <a:t>Standard Deviation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E1DBF4-90DA-455E-147E-4F66EB553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590522"/>
              </p:ext>
            </p:extLst>
          </p:nvPr>
        </p:nvGraphicFramePr>
        <p:xfrm>
          <a:off x="1754669" y="3957121"/>
          <a:ext cx="8128000" cy="1478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6048068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32166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191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772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965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3764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812BE3-80D5-BB36-4D40-19E8059B3B79}"/>
              </a:ext>
            </a:extLst>
          </p:cNvPr>
          <p:cNvSpPr txBox="1"/>
          <p:nvPr/>
        </p:nvSpPr>
        <p:spPr>
          <a:xfrm>
            <a:off x="739302" y="5768502"/>
            <a:ext cx="10369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 &amp; B have the same mean and median, but very different distributions!</a:t>
            </a:r>
          </a:p>
        </p:txBody>
      </p:sp>
    </p:spTree>
    <p:extLst>
      <p:ext uri="{BB962C8B-B14F-4D97-AF65-F5344CB8AC3E}">
        <p14:creationId xmlns:p14="http://schemas.microsoft.com/office/powerpoint/2010/main" val="4579362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AE65D-09F6-DB17-C7C8-42EA379CF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1209162"/>
            <a:ext cx="11299371" cy="672421"/>
          </a:xfrm>
        </p:spPr>
        <p:txBody>
          <a:bodyPr/>
          <a:lstStyle/>
          <a:p>
            <a:r>
              <a:rPr lang="en-AU" dirty="0"/>
              <a:t>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3A331-D4C0-8A05-1EB6-40EF6CDDF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2022764"/>
            <a:ext cx="11299371" cy="4198421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A set’s range is the difference between its smallest and largest elements.</a:t>
            </a:r>
          </a:p>
          <a:p>
            <a:pPr marL="0" indent="0">
              <a:buNone/>
            </a:pPr>
            <a:r>
              <a:rPr lang="en-AU" dirty="0"/>
              <a:t>Pretty easy! And not super informative.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9DFD71-A80A-541F-0C6A-B2E7FE91E3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693264"/>
              </p:ext>
            </p:extLst>
          </p:nvPr>
        </p:nvGraphicFramePr>
        <p:xfrm>
          <a:off x="6838544" y="3735421"/>
          <a:ext cx="5047934" cy="275253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23967">
                  <a:extLst>
                    <a:ext uri="{9D8B030D-6E8A-4147-A177-3AD203B41FA5}">
                      <a16:colId xmlns:a16="http://schemas.microsoft.com/office/drawing/2014/main" val="264427772"/>
                    </a:ext>
                  </a:extLst>
                </a:gridCol>
                <a:gridCol w="2523967">
                  <a:extLst>
                    <a:ext uri="{9D8B030D-6E8A-4147-A177-3AD203B41FA5}">
                      <a16:colId xmlns:a16="http://schemas.microsoft.com/office/drawing/2014/main" val="2321395960"/>
                    </a:ext>
                  </a:extLst>
                </a:gridCol>
              </a:tblGrid>
              <a:tr h="334255"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A</a:t>
                      </a:r>
                    </a:p>
                  </a:txBody>
                  <a:tcPr marL="85184" marR="85184" marT="42592" marB="42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B</a:t>
                      </a:r>
                    </a:p>
                  </a:txBody>
                  <a:tcPr marL="85184" marR="85184" marT="42592" marB="42592"/>
                </a:tc>
                <a:extLst>
                  <a:ext uri="{0D108BD9-81ED-4DB2-BD59-A6C34878D82A}">
                    <a16:rowId xmlns:a16="http://schemas.microsoft.com/office/drawing/2014/main" val="2463481224"/>
                  </a:ext>
                </a:extLst>
              </a:tr>
              <a:tr h="345468"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1</a:t>
                      </a:r>
                    </a:p>
                  </a:txBody>
                  <a:tcPr marL="85184" marR="85184" marT="42592" marB="42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1</a:t>
                      </a:r>
                    </a:p>
                  </a:txBody>
                  <a:tcPr marL="85184" marR="85184" marT="42592" marB="42592"/>
                </a:tc>
                <a:extLst>
                  <a:ext uri="{0D108BD9-81ED-4DB2-BD59-A6C34878D82A}">
                    <a16:rowId xmlns:a16="http://schemas.microsoft.com/office/drawing/2014/main" val="1854138208"/>
                  </a:ext>
                </a:extLst>
              </a:tr>
              <a:tr h="345468"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5</a:t>
                      </a:r>
                    </a:p>
                  </a:txBody>
                  <a:tcPr marL="85184" marR="85184" marT="42592" marB="42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22</a:t>
                      </a:r>
                    </a:p>
                  </a:txBody>
                  <a:tcPr marL="85184" marR="85184" marT="42592" marB="42592"/>
                </a:tc>
                <a:extLst>
                  <a:ext uri="{0D108BD9-81ED-4DB2-BD59-A6C34878D82A}">
                    <a16:rowId xmlns:a16="http://schemas.microsoft.com/office/drawing/2014/main" val="3679756432"/>
                  </a:ext>
                </a:extLst>
              </a:tr>
              <a:tr h="345468"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10</a:t>
                      </a:r>
                    </a:p>
                  </a:txBody>
                  <a:tcPr marL="85184" marR="85184" marT="42592" marB="42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23</a:t>
                      </a:r>
                    </a:p>
                  </a:txBody>
                  <a:tcPr marL="85184" marR="85184" marT="42592" marB="42592"/>
                </a:tc>
                <a:extLst>
                  <a:ext uri="{0D108BD9-81ED-4DB2-BD59-A6C34878D82A}">
                    <a16:rowId xmlns:a16="http://schemas.microsoft.com/office/drawing/2014/main" val="2627527298"/>
                  </a:ext>
                </a:extLst>
              </a:tr>
              <a:tr h="345468"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15</a:t>
                      </a:r>
                    </a:p>
                  </a:txBody>
                  <a:tcPr marL="85184" marR="85184" marT="42592" marB="42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24</a:t>
                      </a:r>
                    </a:p>
                  </a:txBody>
                  <a:tcPr marL="85184" marR="85184" marT="42592" marB="42592"/>
                </a:tc>
                <a:extLst>
                  <a:ext uri="{0D108BD9-81ED-4DB2-BD59-A6C34878D82A}">
                    <a16:rowId xmlns:a16="http://schemas.microsoft.com/office/drawing/2014/main" val="283273860"/>
                  </a:ext>
                </a:extLst>
              </a:tr>
              <a:tr h="345468"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20</a:t>
                      </a:r>
                    </a:p>
                  </a:txBody>
                  <a:tcPr marL="85184" marR="85184" marT="42592" marB="42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25</a:t>
                      </a:r>
                    </a:p>
                  </a:txBody>
                  <a:tcPr marL="85184" marR="85184" marT="42592" marB="42592"/>
                </a:tc>
                <a:extLst>
                  <a:ext uri="{0D108BD9-81ED-4DB2-BD59-A6C34878D82A}">
                    <a16:rowId xmlns:a16="http://schemas.microsoft.com/office/drawing/2014/main" val="2191506253"/>
                  </a:ext>
                </a:extLst>
              </a:tr>
              <a:tr h="345468"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25</a:t>
                      </a:r>
                    </a:p>
                  </a:txBody>
                  <a:tcPr marL="85184" marR="85184" marT="42592" marB="42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26</a:t>
                      </a:r>
                    </a:p>
                  </a:txBody>
                  <a:tcPr marL="85184" marR="85184" marT="42592" marB="42592"/>
                </a:tc>
                <a:extLst>
                  <a:ext uri="{0D108BD9-81ED-4DB2-BD59-A6C34878D82A}">
                    <a16:rowId xmlns:a16="http://schemas.microsoft.com/office/drawing/2014/main" val="2332351130"/>
                  </a:ext>
                </a:extLst>
              </a:tr>
              <a:tr h="345468"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30</a:t>
                      </a:r>
                    </a:p>
                  </a:txBody>
                  <a:tcPr marL="85184" marR="85184" marT="42592" marB="42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500" dirty="0"/>
                        <a:t>30</a:t>
                      </a:r>
                    </a:p>
                  </a:txBody>
                  <a:tcPr marL="85184" marR="85184" marT="42592" marB="42592"/>
                </a:tc>
                <a:extLst>
                  <a:ext uri="{0D108BD9-81ED-4DB2-BD59-A6C34878D82A}">
                    <a16:rowId xmlns:a16="http://schemas.microsoft.com/office/drawing/2014/main" val="3682046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3938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705C8-B3C1-25DC-9121-A60EECE87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9F6C-5CC0-69B3-8135-76F228EAF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Inter-quartile 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71F40-546B-7800-2B1B-EB918D852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This is the range of the middle 50% of values.</a:t>
            </a:r>
          </a:p>
          <a:p>
            <a:pPr marL="0" indent="0" algn="ctr">
              <a:buNone/>
            </a:pPr>
            <a:r>
              <a:rPr lang="en-AU" b="1" i="1" dirty="0"/>
              <a:t>IQR </a:t>
            </a:r>
            <a:r>
              <a:rPr lang="en-AU" dirty="0"/>
              <a:t>= </a:t>
            </a:r>
            <a:r>
              <a:rPr lang="en-AU" b="1" i="1" dirty="0"/>
              <a:t>Q</a:t>
            </a:r>
            <a:r>
              <a:rPr lang="en-AU" b="1" baseline="-25000" dirty="0"/>
              <a:t>3</a:t>
            </a:r>
            <a:r>
              <a:rPr lang="en-AU" b="1" dirty="0"/>
              <a:t> </a:t>
            </a:r>
            <a:r>
              <a:rPr lang="en-AU" dirty="0"/>
              <a:t>- </a:t>
            </a:r>
            <a:r>
              <a:rPr lang="en-AU" b="1" i="1" dirty="0"/>
              <a:t>Q</a:t>
            </a:r>
            <a:r>
              <a:rPr lang="en-AU" b="1" baseline="-25000" dirty="0"/>
              <a:t>1</a:t>
            </a:r>
          </a:p>
          <a:p>
            <a:pPr marL="0" indent="0" algn="ctr">
              <a:buNone/>
            </a:pPr>
            <a:endParaRPr lang="en-AU" b="1" baseline="-25000" dirty="0"/>
          </a:p>
          <a:p>
            <a:pPr marL="0" indent="0">
              <a:buNone/>
            </a:pPr>
            <a:r>
              <a:rPr lang="en-AU" baseline="-25000" dirty="0"/>
              <a:t>Find the IQR for this series of wages?</a:t>
            </a:r>
          </a:p>
          <a:p>
            <a:pPr marL="0" indent="0">
              <a:buNone/>
            </a:pPr>
            <a:r>
              <a:rPr lang="en-AU" dirty="0"/>
              <a:t>$20, $31, $10, $21, $11, $19, $36, $9</a:t>
            </a:r>
            <a:endParaRPr lang="en-AU" baseline="-25000" dirty="0"/>
          </a:p>
        </p:txBody>
      </p:sp>
    </p:spTree>
    <p:extLst>
      <p:ext uri="{BB962C8B-B14F-4D97-AF65-F5344CB8AC3E}">
        <p14:creationId xmlns:p14="http://schemas.microsoft.com/office/powerpoint/2010/main" val="42551397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A53D8-638C-E7BD-E4A0-A2FEED39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298DA-1C53-75FC-1663-A0E32776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Variance and Standard Deviation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71ED41-71E1-4ECD-E928-8700942417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These are measures of how far a set of numbers is spread out from its average (mean).</a:t>
                </a:r>
              </a:p>
              <a:p>
                <a:pPr marL="0" indent="0">
                  <a:buNone/>
                </a:pPr>
                <a:r>
                  <a:rPr lang="en-AU" dirty="0"/>
                  <a:t>Variance: </a:t>
                </a:r>
                <a:r>
                  <a:rPr lang="en-AU" baseline="-25000" dirty="0"/>
                  <a:t>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/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subHide m:val="on"/>
                            <m:supHide m:val="on"/>
                            <m:ctrlPr>
                              <a:rPr lang="en-AU" i="1"/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AU" i="1"/>
                                </m:ctrlPr>
                              </m:sSupPr>
                              <m:e>
                                <m:r>
                                  <a:rPr lang="en-AU" i="1"/>
                                  <m:t>(</m:t>
                                </m:r>
                                <m:r>
                                  <a:rPr lang="en-AU" i="1"/>
                                  <m:t>𝑥𝑖</m:t>
                                </m:r>
                                <m:r>
                                  <a:rPr lang="en-AU" i="1"/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AU" i="1"/>
                                    </m:ctrlPr>
                                  </m:accPr>
                                  <m:e>
                                    <m:r>
                                      <a:rPr lang="en-AU" i="1"/>
                                      <m:t>𝑥</m:t>
                                    </m:r>
                                  </m:e>
                                </m:acc>
                                <m:r>
                                  <a:rPr lang="en-AU" i="1"/>
                                  <m:t>)</m:t>
                                </m:r>
                              </m:e>
                              <m:sup>
                                <m:r>
                                  <a:rPr lang="en-AU" i="1"/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AU" i="1"/>
                          <m:t>𝑁</m:t>
                        </m:r>
                      </m:den>
                    </m:f>
                  </m:oMath>
                </a14:m>
                <a:endParaRPr lang="en-AU" baseline="-25000" dirty="0"/>
              </a:p>
              <a:p>
                <a:pPr marL="0" indent="0">
                  <a:buNone/>
                </a:pPr>
                <a:endParaRPr lang="en-AU" baseline="-25000" dirty="0"/>
              </a:p>
              <a:p>
                <a:pPr marL="0" indent="0">
                  <a:buNone/>
                </a:pPr>
                <a:r>
                  <a:rPr lang="en-AU" dirty="0"/>
                  <a:t>σ = (lowercase sigma) standard deviation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AU" baseline="-25000" dirty="0"/>
                  <a:t> </a:t>
                </a:r>
                <a:r>
                  <a:rPr lang="en-AU" dirty="0"/>
                  <a:t>= mean</a:t>
                </a:r>
              </a:p>
              <a:p>
                <a:pPr marL="0" indent="0">
                  <a:buNone/>
                </a:pPr>
                <a:r>
                  <a:rPr lang="en-AU" dirty="0"/>
                  <a:t>Standard deviation is used because it has the same unit as x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71ED41-71E1-4ECD-E928-8700942417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8" t="-1887" r="-1456" b="-34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67287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C3C4-740D-BD83-7971-BE3AE3F6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E800D-D3D2-1E79-9CE3-2BF52CFD1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We could find the </a:t>
            </a:r>
            <a:r>
              <a:rPr lang="en-AU" dirty="0" err="1"/>
              <a:t>std.dev</a:t>
            </a:r>
            <a:r>
              <a:rPr lang="en-AU" dirty="0"/>
              <a:t>. of some example data set.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But let’s code it.</a:t>
            </a:r>
          </a:p>
        </p:txBody>
      </p:sp>
    </p:spTree>
    <p:extLst>
      <p:ext uri="{BB962C8B-B14F-4D97-AF65-F5344CB8AC3E}">
        <p14:creationId xmlns:p14="http://schemas.microsoft.com/office/powerpoint/2010/main" val="2567364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AAE47E6D-FF3A-405D-F807-5B9271DA5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61D0A8-7D11-12C1-36E0-74B047158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18624"/>
            <a:ext cx="65" cy="43724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D597AA-BA9C-B62B-7505-0125E854D160}"/>
              </a:ext>
            </a:extLst>
          </p:cNvPr>
          <p:cNvSpPr txBox="1"/>
          <p:nvPr/>
        </p:nvSpPr>
        <p:spPr>
          <a:xfrm>
            <a:off x="437079" y="2033430"/>
            <a:ext cx="11855563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Use 4 spaces per indentation level</a:t>
            </a:r>
            <a:endParaRPr lang="en-US" dirty="0">
              <a:ea typeface="+mn-lt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If spanning multiple lines, align the elements vertically</a:t>
            </a:r>
            <a:endParaRPr lang="en-US" dirty="0">
              <a:cs typeface="Arial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If the dictionary is small, it can be defined on a single line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Use hanging indents for dictionaries that span multiple lines.</a:t>
            </a:r>
            <a:endParaRPr lang="en-US" sz="3200" dirty="0">
              <a:cs typeface="Arial"/>
            </a:endParaRPr>
          </a:p>
          <a:p>
            <a:pPr marL="457200" indent="-457200">
              <a:buFont typeface="Arial"/>
              <a:buChar char="•"/>
            </a:pPr>
            <a:endParaRPr lang="en-US" sz="3200" dirty="0"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A5AC84-AE55-92E7-3921-3CC7376B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PEP8 Standards</a:t>
            </a:r>
          </a:p>
        </p:txBody>
      </p:sp>
    </p:spTree>
    <p:extLst>
      <p:ext uri="{BB962C8B-B14F-4D97-AF65-F5344CB8AC3E}">
        <p14:creationId xmlns:p14="http://schemas.microsoft.com/office/powerpoint/2010/main" val="20143263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F451C410-744E-273A-2F75-EDB4361EB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FD199D-08E7-9F1B-BF78-2BD4E4AB0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18624"/>
            <a:ext cx="65" cy="43724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AB8F41-F674-209B-C1F1-EB242E213A43}"/>
              </a:ext>
            </a:extLst>
          </p:cNvPr>
          <p:cNvSpPr txBox="1"/>
          <p:nvPr/>
        </p:nvSpPr>
        <p:spPr>
          <a:xfrm>
            <a:off x="437079" y="2052539"/>
            <a:ext cx="11106723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ea typeface="+mn-lt"/>
                <a:cs typeface="+mn-lt"/>
              </a:rPr>
              <a:t>Choose keys that clearly describe the associated values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Use immutable types (like strings, numbers) as keys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3200" dirty="0">
                <a:ea typeface="+mn-lt"/>
                <a:cs typeface="+mn-lt"/>
              </a:rPr>
              <a:t>Use the get() method to check if a key exists.</a:t>
            </a:r>
            <a:endParaRPr lang="en-US" sz="3200" dirty="0">
              <a:ea typeface="+mn-lt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3200" b="1" dirty="0">
              <a:ea typeface="Arial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endParaRPr lang="en-US" sz="3200" b="1" dirty="0">
              <a:ea typeface="Arial" charset="0"/>
              <a:cs typeface="Arial" panose="020B0604020202020204" pitchFamily="34" charset="0"/>
            </a:endParaRPr>
          </a:p>
          <a:p>
            <a:endParaRPr lang="en-AU" sz="3200" dirty="0"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6A668BF-1B53-86AA-FE2E-AC66FFC0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Best Practices: Dictionaries</a:t>
            </a:r>
          </a:p>
        </p:txBody>
      </p:sp>
    </p:spTree>
    <p:extLst>
      <p:ext uri="{BB962C8B-B14F-4D97-AF65-F5344CB8AC3E}">
        <p14:creationId xmlns:p14="http://schemas.microsoft.com/office/powerpoint/2010/main" val="11634595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>
          <a:extLst>
            <a:ext uri="{FF2B5EF4-FFF2-40B4-BE49-F238E27FC236}">
              <a16:creationId xmlns:a16="http://schemas.microsoft.com/office/drawing/2014/main" id="{98C17C39-E616-6201-A949-B84DE99AD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Shape 508">
            <a:extLst>
              <a:ext uri="{FF2B5EF4-FFF2-40B4-BE49-F238E27FC236}">
                <a16:creationId xmlns:a16="http://schemas.microsoft.com/office/drawing/2014/main" id="{13A947C9-9DA9-3F0A-0932-AD6934231C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rgbClr val="00FF00"/>
              </a:buClr>
              <a:buSzPct val="25000"/>
            </a:pPr>
            <a:r>
              <a:rPr lang="en-US" dirty="0">
                <a:latin typeface="Arial"/>
                <a:ea typeface="Arial" charset="0"/>
                <a:cs typeface="Arial"/>
                <a:sym typeface="Cabin"/>
              </a:rPr>
              <a:t>Summary</a:t>
            </a:r>
            <a:endParaRPr lang="en-US" dirty="0">
              <a:latin typeface="Arial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D38782-7FE3-1E50-6F05-906A3B84E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18624"/>
            <a:ext cx="65" cy="437249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hape 689">
            <a:extLst>
              <a:ext uri="{FF2B5EF4-FFF2-40B4-BE49-F238E27FC236}">
                <a16:creationId xmlns:a16="http://schemas.microsoft.com/office/drawing/2014/main" id="{7EAD2DD1-639A-D21E-9F82-9A4C0482FCA0}"/>
              </a:ext>
            </a:extLst>
          </p:cNvPr>
          <p:cNvSpPr txBox="1">
            <a:spLocks noGrp="1"/>
          </p:cNvSpPr>
          <p:nvPr/>
        </p:nvSpPr>
        <p:spPr>
          <a:xfrm>
            <a:off x="437079" y="2032813"/>
            <a:ext cx="8083442" cy="3910404"/>
          </a:xfrm>
          <a:prstGeom prst="rect">
            <a:avLst/>
          </a:prstGeom>
          <a:noFill/>
          <a:ln>
            <a:noFill/>
          </a:ln>
        </p:spPr>
        <p:txBody>
          <a:bodyPr vert="horz" lIns="28575" tIns="28575" rIns="28575" bIns="28575" rtlCol="0" anchor="t" anchorCtr="0">
            <a:noAutofit/>
          </a:bodyPr>
          <a:lstStyle>
            <a:lvl1pPr marL="561975" lvl="0" indent="-106871" algn="l" defTabSz="457200" rtl="0" eaLnBrk="1" latinLnBrk="0" hangingPunct="1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32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81050" lvl="1" indent="-106871" algn="l" defTabSz="457200" rtl="0" eaLnBrk="1" latinLnBrk="0" hangingPunct="1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28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00125" lvl="2" indent="-106871" algn="l" defTabSz="457200" rtl="0" eaLnBrk="1" latinLnBrk="0" hangingPunct="1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24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28725" lvl="3" indent="-106871" algn="l" defTabSz="457200" rtl="0" eaLnBrk="1" latinLnBrk="0" hangingPunct="1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20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47800" lvl="4" indent="-106871" algn="l" defTabSz="457200" rtl="0" eaLnBrk="1" latinLnBrk="0" hangingPunct="1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2000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90700" lvl="5" indent="-106871" algn="l" defTabSz="457200" rtl="0" eaLnBrk="1" latinLnBrk="0" hangingPunct="1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600" lvl="6" indent="-106871" algn="l" defTabSz="457200" rtl="0" eaLnBrk="1" latinLnBrk="0" hangingPunct="1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76500" lvl="7" indent="-106871" algn="l" defTabSz="457200" rtl="0" eaLnBrk="1" latinLnBrk="0" hangingPunct="1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19400" lvl="8" indent="-106871" algn="l" defTabSz="457200" rtl="0" eaLnBrk="1" latinLnBrk="0" hangingPunct="1">
              <a:spcBef>
                <a:spcPts val="2625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457200">
              <a:spcBef>
                <a:spcPts val="0"/>
              </a:spcBef>
              <a:buClrTx/>
            </a:pPr>
            <a:r>
              <a:rPr lang="en-US" dirty="0">
                <a:solidFill>
                  <a:schemeClr val="tx1"/>
                </a:solidFill>
                <a:latin typeface="+mj-lt"/>
                <a:cs typeface="Arial"/>
                <a:sym typeface="Cabin"/>
              </a:rPr>
              <a:t>Creating dictionaries</a:t>
            </a:r>
            <a:endParaRPr lang="en-US" dirty="0">
              <a:solidFill>
                <a:schemeClr val="tx1"/>
              </a:solidFill>
              <a:latin typeface="+mj-lt"/>
              <a:cs typeface="Arial"/>
            </a:endParaRPr>
          </a:p>
          <a:p>
            <a:pPr marL="0" indent="-457200">
              <a:spcBef>
                <a:spcPts val="0"/>
              </a:spcBef>
              <a:buClrTx/>
            </a:pPr>
            <a:r>
              <a:rPr lang="en-US" dirty="0">
                <a:solidFill>
                  <a:schemeClr val="tx1"/>
                </a:solidFill>
                <a:latin typeface="+mj-lt"/>
                <a:cs typeface="Arial"/>
              </a:rPr>
              <a:t>Using dictionaries</a:t>
            </a:r>
          </a:p>
          <a:p>
            <a:pPr marL="0" indent="-457200">
              <a:spcBef>
                <a:spcPts val="0"/>
              </a:spcBef>
              <a:buClrTx/>
            </a:pPr>
            <a:r>
              <a:rPr lang="en-US" dirty="0">
                <a:solidFill>
                  <a:schemeClr val="tx1"/>
                </a:solidFill>
                <a:latin typeface="+mj-lt"/>
                <a:cs typeface="Arial"/>
              </a:rPr>
              <a:t>Accessing dictionaries</a:t>
            </a:r>
          </a:p>
          <a:p>
            <a:pPr marL="0" indent="-457200">
              <a:spcBef>
                <a:spcPts val="0"/>
              </a:spcBef>
              <a:buClrTx/>
            </a:pPr>
            <a:r>
              <a:rPr lang="en-US" dirty="0">
                <a:solidFill>
                  <a:schemeClr val="tx1"/>
                </a:solidFill>
                <a:latin typeface="+mj-lt"/>
                <a:cs typeface="Arial"/>
              </a:rPr>
              <a:t>Modifying dictionaries</a:t>
            </a:r>
          </a:p>
          <a:p>
            <a:pPr marL="0" indent="-457200">
              <a:spcBef>
                <a:spcPts val="0"/>
              </a:spcBef>
              <a:buClrTx/>
            </a:pPr>
            <a:r>
              <a:rPr lang="en-US" dirty="0">
                <a:solidFill>
                  <a:schemeClr val="tx1"/>
                </a:solidFill>
                <a:latin typeface="+mj-lt"/>
                <a:cs typeface="Arial"/>
              </a:rPr>
              <a:t>Methods</a:t>
            </a:r>
            <a:r>
              <a:rPr lang="en-US" dirty="0">
                <a:solidFill>
                  <a:schemeClr val="tx1"/>
                </a:solidFill>
                <a:latin typeface="+mj-lt"/>
                <a:ea typeface="+mn-lt"/>
                <a:cs typeface="+mn-lt"/>
              </a:rPr>
              <a:t>: get(), keys(), values(), items()</a:t>
            </a:r>
            <a:endParaRPr lang="en-US" dirty="0">
              <a:solidFill>
                <a:schemeClr val="tx1"/>
              </a:solidFill>
              <a:latin typeface="+mj-lt"/>
              <a:cs typeface="Arial"/>
            </a:endParaRPr>
          </a:p>
          <a:p>
            <a:pPr marL="0" indent="-457200">
              <a:spcBef>
                <a:spcPts val="0"/>
              </a:spcBef>
              <a:buClrTx/>
            </a:pPr>
            <a:r>
              <a:rPr lang="en-US" dirty="0">
                <a:solidFill>
                  <a:schemeClr val="tx1"/>
                </a:solidFill>
                <a:latin typeface="+mj-lt"/>
                <a:cs typeface="Arial"/>
              </a:rPr>
              <a:t>More PEP8 standards.</a:t>
            </a:r>
          </a:p>
          <a:p>
            <a:pPr marL="0" indent="0">
              <a:spcBef>
                <a:spcPts val="0"/>
              </a:spcBef>
              <a:buClrTx/>
              <a:buNone/>
            </a:pPr>
            <a:endParaRPr 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7" name="Picture 6" descr="A cartoon snake with a black background&#10;&#10;Description automatically generated">
            <a:extLst>
              <a:ext uri="{FF2B5EF4-FFF2-40B4-BE49-F238E27FC236}">
                <a16:creationId xmlns:a16="http://schemas.microsoft.com/office/drawing/2014/main" id="{5422B758-FBFD-D418-1759-E6B1F66ED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076637" y="1299808"/>
            <a:ext cx="41148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567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snake&#10;&#10;Description automatically generated">
            <a:extLst>
              <a:ext uri="{FF2B5EF4-FFF2-40B4-BE49-F238E27FC236}">
                <a16:creationId xmlns:a16="http://schemas.microsoft.com/office/drawing/2014/main" id="{965F32AA-02E6-4A01-7F2E-6FA8B5FF0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802049" y="1541341"/>
            <a:ext cx="7020334" cy="5492974"/>
          </a:xfrm>
          <a:prstGeom prst="rect">
            <a:avLst/>
          </a:prstGeom>
        </p:spPr>
      </p:pic>
      <p:sp>
        <p:nvSpPr>
          <p:cNvPr id="9" name="Title 6">
            <a:extLst>
              <a:ext uri="{FF2B5EF4-FFF2-40B4-BE49-F238E27FC236}">
                <a16:creationId xmlns:a16="http://schemas.microsoft.com/office/drawing/2014/main" id="{60AF02F8-B22D-1F5F-766F-E5A64DBCF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5" y="1209162"/>
            <a:ext cx="11299371" cy="672421"/>
          </a:xfrm>
        </p:spPr>
        <p:txBody>
          <a:bodyPr/>
          <a:lstStyle/>
          <a:p>
            <a:r>
              <a:rPr lang="en-AU" dirty="0"/>
              <a:t>Activities to complete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6A48789-8FE7-968E-8D31-1A88A7855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2361235"/>
            <a:ext cx="11136085" cy="4091912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AU" b="1" dirty="0"/>
              <a:t>Practise</a:t>
            </a:r>
            <a:r>
              <a:rPr lang="en-AU" dirty="0"/>
              <a:t> what you have learnt today! </a:t>
            </a:r>
          </a:p>
          <a:p>
            <a:pPr marL="0" indent="0">
              <a:spcBef>
                <a:spcPts val="0"/>
              </a:spcBef>
              <a:buNone/>
            </a:pPr>
            <a:endParaRPr lang="en-AU" dirty="0"/>
          </a:p>
          <a:p>
            <a:pPr marL="0" indent="0">
              <a:spcBef>
                <a:spcPts val="0"/>
              </a:spcBef>
              <a:buNone/>
            </a:pPr>
            <a:r>
              <a:rPr lang="en-AU" dirty="0"/>
              <a:t>Go to your </a:t>
            </a:r>
            <a:r>
              <a:rPr lang="en-AU" b="1" dirty="0"/>
              <a:t>Week 8 Revision Exercises folder </a:t>
            </a:r>
            <a:br>
              <a:rPr lang="en-AU" dirty="0"/>
            </a:br>
            <a:r>
              <a:rPr lang="en-AU" dirty="0"/>
              <a:t>and complete the revision activities.</a:t>
            </a:r>
          </a:p>
        </p:txBody>
      </p:sp>
    </p:spTree>
    <p:extLst>
      <p:ext uri="{BB962C8B-B14F-4D97-AF65-F5344CB8AC3E}">
        <p14:creationId xmlns:p14="http://schemas.microsoft.com/office/powerpoint/2010/main" val="825234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MS Availabilities&amp;#x0D;&amp;#x0A;Overview&amp;quot;&quot;/&gt;&lt;property id=&quot;20307&quot; value=&quot;256&quot;/&gt;&lt;/object&gt;&lt;object type=&quot;3&quot; unique_id=&quot;10005&quot;&gt;&lt;property id=&quot;20148&quot; value=&quot;5&quot;/&gt;&lt;property id=&quot;20300&quot; value=&quot;Slide 2&quot;/&gt;&lt;property id=&quot;20307&quot; value=&quot;257&quot;/&gt;&lt;/object&gt;&lt;object type=&quot;3&quot; unique_id=&quot;10006&quot;&gt;&lt;property id=&quot;20148&quot; value=&quot;5&quot;/&gt;&lt;property id=&quot;20300&quot; value=&quot;Slide 3 - &amp;quot;&amp;#x0D;&amp;#x0A;Course Availabilities&amp;quot;&quot;/&gt;&lt;property id=&quot;20307&quot; value=&quot;261&quot;/&gt;&lt;/object&gt;&lt;object type=&quot;3&quot; unique_id=&quot;10007&quot;&gt;&lt;property id=&quot;20148&quot; value=&quot;5&quot;/&gt;&lt;property id=&quot;20300&quot; value=&quot;Slide 4 - &amp;quot;Intake Calendars&amp;quot;&quot;/&gt;&lt;property id=&quot;20307&quot; value=&quot;264&quot;/&gt;&lt;/object&gt;&lt;object type=&quot;3&quot; unique_id=&quot;10008&quot;&gt;&lt;property id=&quot;20148&quot; value=&quot;5&quot;/&gt;&lt;property id=&quot;20300&quot; value=&quot;Slide 5 - &amp;quot;&amp;#x0D;&amp;#x0A;Unit Availabilities&amp;quot;&quot;/&gt;&lt;property id=&quot;20307&quot; value=&quot;259&quot;/&gt;&lt;/object&gt;&lt;object type=&quot;3&quot; unique_id=&quot;10009&quot;&gt;&lt;property id=&quot;20148&quot; value=&quot;5&quot;/&gt;&lt;property id=&quot;20300&quot; value=&quot;Slide 6 - &amp;quot;&amp;#x0D;&amp;#x0A;Unit Availabilities&amp;quot;&quot;/&gt;&lt;property id=&quot;20307&quot; value=&quot;260&quot;/&gt;&lt;/object&gt;&lt;object type=&quot;3&quot; unique_id=&quot;10010&quot;&gt;&lt;property id=&quot;20148&quot; value=&quot;5&quot;/&gt;&lt;property id=&quot;20300&quot; value=&quot;Slide 7 - &amp;quot;Enrolment Calendars&amp;quot;&quot;/&gt;&lt;property id=&quot;20307&quot; value=&quot;265&quot;/&gt;&lt;/object&gt;&lt;object type=&quot;3&quot; unique_id=&quot;10011&quot;&gt;&lt;property id=&quot;20148&quot; value=&quot;5&quot;/&gt;&lt;property id=&quot;20300&quot; value=&quot;Slide 8 - &amp;quot;Business Guidelines&amp;quot;&quot;/&gt;&lt;property id=&quot;20307&quot; value=&quot;268&quot;/&gt;&lt;/object&gt;&lt;object type=&quot;3&quot; unique_id=&quot;10012&quot;&gt;&lt;property id=&quot;20148&quot; value=&quot;5&quot;/&gt;&lt;property id=&quot;20300&quot; value=&quot;Slide 9 - &amp;quot;Business Guidelines&amp;quot;&quot;/&gt;&lt;property id=&quot;20307&quot; value=&quot;269&quot;/&gt;&lt;/object&gt;&lt;object type=&quot;3&quot; unique_id=&quot;10013&quot;&gt;&lt;property id=&quot;20148&quot; value=&quot;5&quot;/&gt;&lt;property id=&quot;20300&quot; value=&quot;Slide 10 - &amp;quot;Business Considerations&amp;quot;&quot;/&gt;&lt;property id=&quot;20307&quot; value=&quot;262&quot;/&gt;&lt;/object&gt;&lt;object type=&quot;3&quot; unique_id=&quot;10014&quot;&gt;&lt;property id=&quot;20148&quot; value=&quot;5&quot;/&gt;&lt;property id=&quot;20300&quot; value=&quot;Slide 11 - &amp;quot;Availabilities tasks&amp;quot;&quot;/&gt;&lt;property id=&quot;20307&quot; value=&quot;266&quot;/&gt;&lt;/object&gt;&lt;object type=&quot;3&quot; unique_id=&quot;10015&quot;&gt;&lt;property id=&quot;20148&quot; value=&quot;5&quot;/&gt;&lt;property id=&quot;20300&quot; value=&quot;Slide 12 - &amp;quot;Availabilities Template&amp;quot;&quot;/&gt;&lt;property id=&quot;20307&quot; value=&quot;267&quot;/&gt;&lt;/object&gt;&lt;object type=&quot;3&quot; unique_id=&quot;10016&quot;&gt;&lt;property id=&quot;20148&quot; value=&quot;5&quot;/&gt;&lt;property id=&quot;20300&quot; value=&quot;Slide 13 - &amp;quot;Timetabling&amp;quot;&quot;/&gt;&lt;property id=&quot;20307&quot; value=&quot;26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NM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MT_PPT_wide.potx [Read-Only]" id="{7662106E-378D-4341-BC55-340DBF4628EB}" vid="{5FA5BE22-F730-4BB4-A840-7F5F75BA9D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2C20ED99081F42809B75EAF415F118" ma:contentTypeVersion="18" ma:contentTypeDescription="Create a new document." ma:contentTypeScope="" ma:versionID="6be9e66f8ada31c23d123387f5d7dd8f">
  <xsd:schema xmlns:xsd="http://www.w3.org/2001/XMLSchema" xmlns:xs="http://www.w3.org/2001/XMLSchema" xmlns:p="http://schemas.microsoft.com/office/2006/metadata/properties" xmlns:ns3="c37b387d-8d2f-4733-9e89-0040f2aad9c0" xmlns:ns4="0572cf99-3fde-40d6-b0f4-e681923ac2d2" targetNamespace="http://schemas.microsoft.com/office/2006/metadata/properties" ma:root="true" ma:fieldsID="52f8498359a86e360f9ddb16830689d8" ns3:_="" ns4:_="">
    <xsd:import namespace="c37b387d-8d2f-4733-9e89-0040f2aad9c0"/>
    <xsd:import namespace="0572cf99-3fde-40d6-b0f4-e681923ac2d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7b387d-8d2f-4733-9e89-0040f2aad9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2cf99-3fde-40d6-b0f4-e681923ac2d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572cf99-3fde-40d6-b0f4-e681923ac2d2">
      <UserInfo>
        <DisplayName/>
        <AccountId xsi:nil="true"/>
        <AccountType/>
      </UserInfo>
    </SharedWithUsers>
    <MediaLengthInSeconds xmlns="c37b387d-8d2f-4733-9e89-0040f2aad9c0" xsi:nil="true"/>
    <_activity xmlns="c37b387d-8d2f-4733-9e89-0040f2aad9c0" xsi:nil="true"/>
  </documentManagement>
</p:properties>
</file>

<file path=customXml/itemProps1.xml><?xml version="1.0" encoding="utf-8"?>
<ds:datastoreItem xmlns:ds="http://schemas.openxmlformats.org/officeDocument/2006/customXml" ds:itemID="{E93B4755-80B4-4FE9-9650-4C80064448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687D7D-0951-4B4C-89B5-BF8ACE0F94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37b387d-8d2f-4733-9e89-0040f2aad9c0"/>
    <ds:schemaRef ds:uri="0572cf99-3fde-40d6-b0f4-e681923ac2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6F79D9B-5A67-492D-BB4F-F3913BAD9421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0572cf99-3fde-40d6-b0f4-e681923ac2d2"/>
    <ds:schemaRef ds:uri="http://schemas.microsoft.com/office/infopath/2007/PartnerControls"/>
    <ds:schemaRef ds:uri="http://schemas.openxmlformats.org/package/2006/metadata/core-properties"/>
    <ds:schemaRef ds:uri="c37b387d-8d2f-4733-9e89-0040f2aad9c0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Presentation Wide Template</Template>
  <TotalTime>4094</TotalTime>
  <Words>1979</Words>
  <Application>Microsoft Office PowerPoint</Application>
  <PresentationFormat>Widescreen</PresentationFormat>
  <Paragraphs>329</Paragraphs>
  <Slides>45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Arial</vt:lpstr>
      <vt:lpstr>Calibri</vt:lpstr>
      <vt:lpstr>Cambria Math</vt:lpstr>
      <vt:lpstr>Consolas</vt:lpstr>
      <vt:lpstr>Courier New</vt:lpstr>
      <vt:lpstr>NMT Theme</vt:lpstr>
      <vt:lpstr>Introductory Programming Techniques</vt:lpstr>
      <vt:lpstr>What will I learn?</vt:lpstr>
      <vt:lpstr>To complete this week</vt:lpstr>
      <vt:lpstr>Revision: Lists</vt:lpstr>
      <vt:lpstr>Revision: Lists</vt:lpstr>
      <vt:lpstr>Revision: Lists</vt:lpstr>
      <vt:lpstr>Additional resources</vt:lpstr>
      <vt:lpstr>What is a Python Dictionary?</vt:lpstr>
      <vt:lpstr>Two Types of Collections</vt:lpstr>
      <vt:lpstr>List vs Dictionary</vt:lpstr>
      <vt:lpstr>Dictionary vs List</vt:lpstr>
      <vt:lpstr>Keys and Value</vt:lpstr>
      <vt:lpstr>Key-value Pairs</vt:lpstr>
      <vt:lpstr>Creating a Dictionary</vt:lpstr>
      <vt:lpstr>Creating a Dictionary</vt:lpstr>
      <vt:lpstr>Accessing Values</vt:lpstr>
      <vt:lpstr>Accessing Values</vt:lpstr>
      <vt:lpstr>More about the get() method</vt:lpstr>
      <vt:lpstr>Get Method Example</vt:lpstr>
      <vt:lpstr>Let’s code!</vt:lpstr>
      <vt:lpstr>Accessing Values</vt:lpstr>
      <vt:lpstr>Accessing Values</vt:lpstr>
      <vt:lpstr>Modifying Dictionaries</vt:lpstr>
      <vt:lpstr>Updating Dictionaries</vt:lpstr>
      <vt:lpstr>Deleting Dictionaries</vt:lpstr>
      <vt:lpstr>Clearing a Dictionary</vt:lpstr>
      <vt:lpstr>Dictionary Methods</vt:lpstr>
      <vt:lpstr>Dictionary Methods</vt:lpstr>
      <vt:lpstr>Dictionary Methods</vt:lpstr>
      <vt:lpstr>Dictionary Methods</vt:lpstr>
      <vt:lpstr>Dictionary  Methods</vt:lpstr>
      <vt:lpstr>Iterating through Dictionaries</vt:lpstr>
      <vt:lpstr>Iterating through Dictionaries</vt:lpstr>
      <vt:lpstr>Iterating through Dictionaries</vt:lpstr>
      <vt:lpstr>Oh noes!!!! MATH!!!!</vt:lpstr>
      <vt:lpstr>Revision: Data Series</vt:lpstr>
      <vt:lpstr>Dispersion Measures</vt:lpstr>
      <vt:lpstr>Range</vt:lpstr>
      <vt:lpstr>Inter-quartile range</vt:lpstr>
      <vt:lpstr>Variance and Standard Deviation</vt:lpstr>
      <vt:lpstr>Exercise</vt:lpstr>
      <vt:lpstr>PEP8 Standards</vt:lpstr>
      <vt:lpstr>Best Practices: Dictionaries</vt:lpstr>
      <vt:lpstr>Summary</vt:lpstr>
      <vt:lpstr>Activities to complete</vt:lpstr>
    </vt:vector>
  </TitlesOfParts>
  <Manager/>
  <Company>North Metro TAFE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8</dc:title>
  <dc:subject>Powerpoint presentation template (G076C)</dc:subject>
  <dc:creator/>
  <cp:keywords>Dictionaries</cp:keywords>
  <dc:description/>
  <cp:lastModifiedBy>Chris Arnold</cp:lastModifiedBy>
  <cp:revision>8466</cp:revision>
  <cp:lastPrinted>2020-09-29T02:41:13Z</cp:lastPrinted>
  <dcterms:created xsi:type="dcterms:W3CDTF">2020-06-09T02:13:16Z</dcterms:created>
  <dcterms:modified xsi:type="dcterms:W3CDTF">2026-03-23T09:53:01Z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0x0101006D2C20ED99081F42809B75EAF415F118</vt:lpwstr>
  </property>
  <property fmtid="{D5CDD505-2E9C-101B-9397-08002B2CF9AE}" pid="3" name="MSIP_Label_f3ac7e5b-5da2-46c7-8677-8a6b50f7d886_Enabled">
    <vt:lpwstr>true</vt:lpwstr>
  </property>
  <property fmtid="{D5CDD505-2E9C-101B-9397-08002B2CF9AE}" pid="4" name="MSIP_Label_f3ac7e5b-5da2-46c7-8677-8a6b50f7d886_SetDate">
    <vt:lpwstr>2022-06-29T12:19:04Z</vt:lpwstr>
  </property>
  <property fmtid="{D5CDD505-2E9C-101B-9397-08002B2CF9AE}" pid="5" name="MSIP_Label_f3ac7e5b-5da2-46c7-8677-8a6b50f7d886_Method">
    <vt:lpwstr>Privileged</vt:lpwstr>
  </property>
  <property fmtid="{D5CDD505-2E9C-101B-9397-08002B2CF9AE}" pid="6" name="MSIP_Label_f3ac7e5b-5da2-46c7-8677-8a6b50f7d886_Name">
    <vt:lpwstr>Official</vt:lpwstr>
  </property>
  <property fmtid="{D5CDD505-2E9C-101B-9397-08002B2CF9AE}" pid="7" name="MSIP_Label_f3ac7e5b-5da2-46c7-8677-8a6b50f7d886_SiteId">
    <vt:lpwstr>218881e8-07ad-4142-87d7-f6b90d17009b</vt:lpwstr>
  </property>
  <property fmtid="{D5CDD505-2E9C-101B-9397-08002B2CF9AE}" pid="8" name="MSIP_Label_f3ac7e5b-5da2-46c7-8677-8a6b50f7d886_ActionId">
    <vt:lpwstr>de86e592-d3bd-498f-ab3b-e44aaab702af</vt:lpwstr>
  </property>
  <property fmtid="{D5CDD505-2E9C-101B-9397-08002B2CF9AE}" pid="9" name="MSIP_Label_f3ac7e5b-5da2-46c7-8677-8a6b50f7d886_ContentBits">
    <vt:lpwstr>1</vt:lpwstr>
  </property>
  <property fmtid="{D5CDD505-2E9C-101B-9397-08002B2CF9AE}" pid="10" name="ClassificationContentMarkingHeaderLocations">
    <vt:lpwstr>Office Theme:7</vt:lpwstr>
  </property>
  <property fmtid="{D5CDD505-2E9C-101B-9397-08002B2CF9AE}" pid="11" name="ClassificationContentMarkingHeaderText">
    <vt:lpwstr>OFFICIAL</vt:lpwstr>
  </property>
  <property fmtid="{D5CDD505-2E9C-101B-9397-08002B2CF9AE}" pid="12" name="Order">
    <vt:r8>8171000</vt:r8>
  </property>
  <property fmtid="{D5CDD505-2E9C-101B-9397-08002B2CF9AE}" pid="13" name="ComplianceAssetId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</Properties>
</file>